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C38FC2A-0278-C2D4-C085-763929B8A09C}">
          <p14:sldIdLst>
            <p14:sldId id="256"/>
          </p14:sldIdLst>
        </p14:section>
        <p14:section name="Problem and discovery" id="{4DCB2932-D519-6368-F92B-F780E4BE8348}">
          <p14:sldIdLst>
            <p14:sldId id="257"/>
            <p14:sldId id="258"/>
            <p14:sldId id="259"/>
          </p14:sldIdLst>
        </p14:section>
        <p14:section name="Opportunity" id="{D9D9BF04-35DE-017F-8B61-F1B7DB7B6B9A}">
          <p14:sldIdLst>
            <p14:sldId id="260"/>
          </p14:sldIdLst>
        </p14:section>
        <p14:section name="Solution" id="{C1B36677-045C-AA5C-BA88-71832AEA4BA1}">
          <p14:sldIdLst>
            <p14:sldId id="261"/>
          </p14:sldIdLst>
        </p14:section>
        <p14:section name="Walkthrough" id="{F0D698EC-3E85-E27F-78D9-8684D18D5BC7}">
          <p14:sldIdLst>
            <p14:sldId id="262"/>
            <p14:sldId id="263"/>
            <p14:sldId id="264"/>
            <p14:sldId id="265"/>
          </p14:sldIdLst>
        </p14:section>
        <p14:section name="Metrics and evals" id="{F67A2BE2-D61E-EDBF-27BB-895B520177D2}">
          <p14:sldIdLst>
            <p14:sldId id="266"/>
            <p14:sldId id="267"/>
          </p14:sldIdLst>
        </p14:section>
        <p14:section name="Risks and guardrails" id="{57D58199-72A0-ADA7-37D6-8871638B5C35}">
          <p14:sldIdLst>
            <p14:sldId id="268"/>
          </p14:sldIdLst>
        </p14:section>
        <p14:section name="Closing" id="{E48F836B-E972-7D67-364D-187004E4BC78}">
          <p14:sldIdLst>
            <p14:sldId id="269"/>
          </p14:sldIdLst>
        </p14:section>
        <p14:section name="Appendix" id="{DCA2DE6B-9823-3FA5-7ADF-7A3A82B8002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45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0476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Rahul. This is the video recording of the capstone project I worked on: the AtliQ Contract Risk Analyzer. In the next few minutes I will go through the problem I found, the prototype I created for the capstone, and the next steps. All the required artefacts are in the GitHub link.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at a high level: as of today, every contract at AtliQ is reviewed and signed by Karandeep. That's about nine documents a month: three or four client contracts, each taking about three to four hours, plus four or five NDAs. Karandeep does this in the late evening, after his regular work, and typically a contract waits about a week in the queue.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followed The Mom Test: ask what happened last time, never pitch. The office hours with the client were the interview, and the dataset's own meeting notes confirmed it in Karandeep's words. Every line here is tagged evidence or assumption in the worksheet. Three answers shaped everything: the last failure, how past promises are checked, and what a perfect review would look like: every clause, in under five minutes, and the AI never signs.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started, I thought the problem was speed. But the real risk sits outside the contract Karandeep is reading: what AtliQ has already signed with other clients, and which entity should sign. None of it is written down; it lives in Karandeep's head, so nobody else can review for him. This has already caused problems with clients: Brightwater ended in a settlement, and ShopSwift slipped by a quarter.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Opportunity mapping took the review apart into eight steps and asked, for each one, what AI should do, what plain rules should do, and what stays with a person. Three capabilities together are the review: reading every clause, checking against a register of existing commitments, and the entity, country and paperwork rules. I was deliberate about where not to use AI: matching an entity to a country and a law, or listing the documents a deal type needs, is a lookup table, and a lookup table cannot invent a rule; the model only extracts the facts the table reads, and those are shown for checking. Drafting counter-proposals, mailbox intake and a client-legitimacy check went to the roadmap. One thing the client said shaped all of this: no single sub-problem is the P0; a review is one judgment made of many checks.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of the manual analysis required, I designed the analyzer around these memory gaps. In the to-be process, the seller uploads the draft and the analyzer runs five checks. Every clause gets a verdict, with the exact words quoted. The deal is checked against a register of what AtliQ has already promised, built from the seventeen signed contracts and confirmed by Karandeep. Past negotiations show up as history. Entity, country and paperwork are fixed rules; the model only pulls out the facts. It checks whether "mutual" is really mutual, including AtliQ's own vendor paper, which I kept in scope because the healthcare deals depend on it. For transparency, the summary brief clearly states that it is an AI-generated draft review, that it is not legal advice, and that a person takes the final decision.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live prototype, replaying a saved run. This is the client Gulf Crown, a hundred-and-forty-thousand-dollar hotel deal in Saudi. As per the records, in the queue meeting on the 22nd nobody could remember whether AtliQ had a restriction in the Gulf. The analyzer found it in about a minute and a half: Al Noor clause 12.1, quoted on both sides, binding affiliates, live until 2029. It suggests escalating, with the counsel package ready.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the client BlueOrchid. On manual review it initially looked safe. The tracker note said "just India hotels I think", so ideally you would expect a clean result. The analyzer disagreed: Annexure B lists two Dubai properties and one in Muscat. It was right and I was wrong.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TravelHub put AtliQ's US entity on a Dubai deal; as per the notes, "because you're US-listed on LinkedIn", but the rules catch it. Harrington is US patient data: the missing subcontractor agreements are listed, and a five-million-dollar insurance demand is flagged against the one million AtliQ holds. All successfully caught and highlighted by the analyzer.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AtliQ's stated preference is for terms it would accept itself. The Kriti agreement is AtliQ's own paper going to a twelve-person agency, copied from a client draft. The analyzer marks the one-sided clauses against the agency even though they favour AtliQ: that is the mutuality check running on our own paper. FinServe sent what they called their standard mutual NDA. The analyzer lists the clauses that bind only AtliQ, and found a non-compete hidden inside it that would bar work for a live client. The client called the mutual label a trap that has backfired many times. Now it is a check.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 I chose is Karandeep's own review time, tracked in the tool, coming down from about three hours to under thirty minutes, with zero missed conflicts and nothing signed under the wrong entity.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its current state, you can see that all eight test contracts pass. All 203 quotes match the contract word for word; where the model finds no supporting text it says "not found" instead of guessing. A review costs about sixteen cents.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fears three failures: a missed conflict, which means breach; false alarms, which teach people to stop reading; and a leaked contract. Each has a mechanism. A golden test set that must pass at one hundred percent conflict recall before any prompt change ships. Severity labels and a false-alarm threshold: a possible conflict, where the overlap depends on a fact outside the document, blocks a sign suggestion but does not escalate on its own. Masking of personal names and identifiers before any model call on real contracts, no-training terms with the provider, and role-based access with Karandeep as super-admin. Above all: the system has no capability to send, sign or change a document. Accountability is a service level, not a sentiment: every uploaded contract reaches a human decision within one working 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my ask is a shadow pilot: about two months, with the analyzer reviewing every real contract alongside Karandeep. If the analyzer agrees with Karandeep 85% of the time and misses no conflict, we move to a beta. If we hit the thirty-minute target, that's about ten hours a month back for Karandeep, around fifty thousand rupees at five thousand an hour, against about five hundred in running cost.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3A5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4630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731520" y="3611880"/>
            <a:ext cx="10698480" cy="2011680"/>
          </a:xfrm>
          <a:prstGeom prst="rect">
            <a:avLst/>
          </a:prstGeom>
          <a:noFill/>
          <a:ln/>
        </p:spPr>
        <p:txBody>
          <a:bodyPr wrap="square" rtlCol="0"/>
          <a:lstStyle>
            <a:lvl1pPr marL="0" indent="0">
              <a:buNone/>
              <a:defRPr lang="en-US" sz="2000" dirty="0">
                <a:solidFill>
                  <a:schemeClr val="bg1"/>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OP">
    <p:bg>
      <p:bgPr>
        <a:solidFill>
          <a:srgbClr val="123A5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640080"/>
            <a:ext cx="10698480" cy="109728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731520" y="2103120"/>
            <a:ext cx="10698480" cy="3566160"/>
          </a:xfrm>
          <a:prstGeom prst="rect">
            <a:avLst/>
          </a:prstGeom>
          <a:noFill/>
          <a:ln/>
        </p:spPr>
        <p:txBody>
          <a:bodyPr wrap="square" rtlCol="0"/>
          <a:lstStyle>
            <a:lvl1pPr marL="0" indent="0">
              <a:buNone/>
              <a:defRPr lang="en-US" sz="2000" dirty="0">
                <a:solidFill>
                  <a:schemeClr val="bg1"/>
                </a:solidFill>
              </a:defRPr>
            </a:lvl1pPr>
          </a:lstStyle>
          <a:p>
            <a:pPr marL="0" indent="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lstStyle>
            <a:lvl1pPr marL="0" indent="0">
              <a:buNone/>
              <a:defRPr lang="en-US" sz="3000" b="1" dirty="0">
                <a:solidFill>
                  <a:schemeClr val="tx2"/>
                </a:solidFill>
              </a:defRPr>
            </a:lvl1pPr>
          </a:lstStyle>
          <a:p>
            <a:pPr marL="0" indent="0">
              <a:buNone/>
            </a:pPr>
            <a:endParaRPr lang="en-US" sz="30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marL="0" indent="0">
              <a:buNone/>
            </a:pPr>
            <a:r>
              <a:rPr lang="en-US" sz="1000" dirty="0">
                <a:solidFill>
                  <a:srgbClr val="7B8492"/>
                </a:solidFill>
              </a:rPr>
              <a:t>AtliQ Contract Risk Analyzer  ·  Rahul</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463040"/>
          </a:xfrm>
          <a:prstGeom prst="rect">
            <a:avLst/>
          </a:prstGeom>
          <a:noFill/>
          <a:ln/>
        </p:spPr>
        <p:txBody>
          <a:bodyPr wrap="square" lIns="0" tIns="0" rIns="0" bIns="0" rtlCol="0" anchor="b"/>
          <a:lstStyle/>
          <a:p>
            <a:pPr marL="0" indent="0" algn="l">
              <a:buNone/>
            </a:pPr>
            <a:r>
              <a:rPr lang="en-US" sz="3600" b="1" dirty="0">
                <a:solidFill>
                  <a:schemeClr val="bg1"/>
                </a:solidFill>
              </a:rPr>
              <a:t>AtliQ Contract Risk Analyzer</a:t>
            </a:r>
            <a:endParaRPr lang="en-US" sz="3600" dirty="0"/>
          </a:p>
        </p:txBody>
      </p:sp>
      <p:sp>
        <p:nvSpPr>
          <p:cNvPr id="4" name="Text 0"/>
          <p:cNvSpPr>
            <a:spLocks noGrp="1"/>
          </p:cNvSpPr>
          <p:nvPr>
            <p:ph type="body" idx="101" hasCustomPrompt="1"/>
          </p:nvPr>
        </p:nvSpPr>
        <p:spPr>
          <a:xfrm>
            <a:off x="731520" y="3611880"/>
            <a:ext cx="10698480" cy="2011680"/>
          </a:xfrm>
          <a:prstGeom prst="rect">
            <a:avLst/>
          </a:prstGeom>
          <a:noFill/>
          <a:ln/>
        </p:spPr>
        <p:txBody>
          <a:bodyPr wrap="square" lIns="0" tIns="0" rIns="0" bIns="0" rtlCol="0" anchor="t"/>
          <a:lstStyle/>
          <a:p>
            <a:pPr marL="0" indent="0">
              <a:buNone/>
            </a:pPr>
            <a:r>
              <a:rPr lang="en-US" sz="2000" b="1" dirty="0">
                <a:solidFill>
                  <a:schemeClr val="bg1"/>
                </a:solidFill>
              </a:rPr>
              <a:t>The contract isn't the problem. </a:t>
            </a:r>
            <a:r>
              <a:rPr lang="en-US" sz="2000" dirty="0">
                <a:solidFill>
                  <a:schemeClr val="bg1"/>
                </a:solidFill>
              </a:rPr>
              <a:t>The missing memory around it is.</a:t>
            </a:r>
            <a:endParaRPr lang="en-US" sz="2000" dirty="0"/>
          </a:p>
        </p:txBody>
      </p:sp>
      <p:sp>
        <p:nvSpPr>
          <p:cNvPr id="5" name="byline"/>
          <p:cNvSpPr txBox="1"/>
          <p:nvPr/>
        </p:nvSpPr>
        <p:spPr>
          <a:xfrm>
            <a:off x="731520" y="5943600"/>
            <a:ext cx="10698480" cy="365760"/>
          </a:xfrm>
          <a:prstGeom prst="rect">
            <a:avLst/>
          </a:prstGeom>
          <a:noFill/>
          <a:ln/>
        </p:spPr>
        <p:txBody>
          <a:bodyPr wrap="square" lIns="0" tIns="0" rIns="0" bIns="0" rtlCol="0" anchor="ctr"/>
          <a:lstStyle/>
          <a:p>
            <a:pPr marL="0" indent="0">
              <a:buNone/>
            </a:pPr>
            <a:r>
              <a:rPr lang="en-US" sz="1300" dirty="0">
                <a:solidFill>
                  <a:srgbClr val="CADCFC"/>
                </a:solidFill>
              </a:rPr>
              <a:t>Rahul  ·  Codebasics AI PM capstone  ·  live prototype: atliq-contract-risk-analyzer-teal.vercel.app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Today: one signer, reviewing from memory after BAU work</a:t>
            </a:r>
            <a:endParaRPr lang="en-US" sz="3000" dirty="0"/>
          </a:p>
        </p:txBody>
      </p:sp>
      <p:pic>
        <p:nvPicPr>
          <p:cNvPr id="4" name="diagram_1.png" descr="E:\Coding\CB AI PM Cohort\Capstone\Capstone 2 AtliQ Contract Risk Analyzer\Working\screenshots\diagram_1.png"/>
          <p:cNvPicPr>
            <a:picLocks noChangeAspect="1"/>
          </p:cNvPicPr>
          <p:nvPr/>
        </p:nvPicPr>
        <p:blipFill>
          <a:blip r:embed="rId3"/>
          <a:stretch>
            <a:fillRect/>
          </a:stretch>
        </p:blipFill>
        <p:spPr>
          <a:xfrm>
            <a:off x="548640" y="1188720"/>
            <a:ext cx="8138160" cy="4827602"/>
          </a:xfrm>
          <a:prstGeom prst="rect">
            <a:avLst/>
          </a:prstGeom>
        </p:spPr>
      </p:pic>
      <p:sp>
        <p:nvSpPr>
          <p:cNvPr id="5" name="stat contracts a month, one signer"/>
          <p:cNvSpPr txBox="1"/>
          <p:nvPr/>
        </p:nvSpPr>
        <p:spPr>
          <a:xfrm>
            <a:off x="9052560" y="1280160"/>
            <a:ext cx="2743200" cy="822960"/>
          </a:xfrm>
          <a:prstGeom prst="rect">
            <a:avLst/>
          </a:prstGeom>
          <a:noFill/>
          <a:ln/>
        </p:spPr>
        <p:txBody>
          <a:bodyPr wrap="square" lIns="0" tIns="0" rIns="0" bIns="0" rtlCol="0" anchor="ctr"/>
          <a:lstStyle/>
          <a:p>
            <a:pPr marL="0" indent="0">
              <a:buNone/>
            </a:pPr>
            <a:r>
              <a:rPr lang="en-US" sz="4000" b="1" dirty="0">
                <a:solidFill>
                  <a:schemeClr val="tx2"/>
                </a:solidFill>
              </a:rPr>
              <a:t>~9</a:t>
            </a:r>
            <a:endParaRPr lang="en-US" sz="4000" dirty="0"/>
          </a:p>
        </p:txBody>
      </p:sp>
      <p:sp>
        <p:nvSpPr>
          <p:cNvPr id="6" name="stat label contracts a month, one signer"/>
          <p:cNvSpPr txBox="1"/>
          <p:nvPr/>
        </p:nvSpPr>
        <p:spPr>
          <a:xfrm>
            <a:off x="9052560" y="2103120"/>
            <a:ext cx="2743200" cy="457200"/>
          </a:xfrm>
          <a:prstGeom prst="rect">
            <a:avLst/>
          </a:prstGeom>
          <a:noFill/>
          <a:ln/>
        </p:spPr>
        <p:txBody>
          <a:bodyPr wrap="square" lIns="0" tIns="0" rIns="0" bIns="0" rtlCol="0" anchor="ctr"/>
          <a:lstStyle/>
          <a:p>
            <a:pPr marL="0" indent="0">
              <a:buNone/>
            </a:pPr>
            <a:r>
              <a:rPr lang="en-US" sz="1300" dirty="0">
                <a:solidFill>
                  <a:srgbClr val="555555"/>
                </a:solidFill>
              </a:rPr>
              <a:t>contracts a month, one signer</a:t>
            </a:r>
            <a:endParaRPr lang="en-US" sz="1300" dirty="0"/>
          </a:p>
        </p:txBody>
      </p:sp>
      <p:sp>
        <p:nvSpPr>
          <p:cNvPr id="7" name="stat per client contract, from memory"/>
          <p:cNvSpPr txBox="1"/>
          <p:nvPr/>
        </p:nvSpPr>
        <p:spPr>
          <a:xfrm>
            <a:off x="9052560" y="2834640"/>
            <a:ext cx="2743200" cy="822960"/>
          </a:xfrm>
          <a:prstGeom prst="rect">
            <a:avLst/>
          </a:prstGeom>
          <a:noFill/>
          <a:ln/>
        </p:spPr>
        <p:txBody>
          <a:bodyPr wrap="square" lIns="0" tIns="0" rIns="0" bIns="0" rtlCol="0" anchor="ctr"/>
          <a:lstStyle/>
          <a:p>
            <a:pPr marL="0" indent="0">
              <a:buNone/>
            </a:pPr>
            <a:r>
              <a:rPr lang="en-US" sz="4000" b="1" dirty="0">
                <a:solidFill>
                  <a:schemeClr val="accent3"/>
                </a:solidFill>
              </a:rPr>
              <a:t>3-4 h</a:t>
            </a:r>
            <a:endParaRPr lang="en-US" sz="4000" dirty="0"/>
          </a:p>
        </p:txBody>
      </p:sp>
      <p:sp>
        <p:nvSpPr>
          <p:cNvPr id="8" name="stat label per client contract, from memory"/>
          <p:cNvSpPr txBox="1"/>
          <p:nvPr/>
        </p:nvSpPr>
        <p:spPr>
          <a:xfrm>
            <a:off x="9052560" y="3657600"/>
            <a:ext cx="2743200" cy="457200"/>
          </a:xfrm>
          <a:prstGeom prst="rect">
            <a:avLst/>
          </a:prstGeom>
          <a:noFill/>
          <a:ln/>
        </p:spPr>
        <p:txBody>
          <a:bodyPr wrap="square" lIns="0" tIns="0" rIns="0" bIns="0" rtlCol="0" anchor="ctr"/>
          <a:lstStyle/>
          <a:p>
            <a:pPr marL="0" indent="0">
              <a:buNone/>
            </a:pPr>
            <a:r>
              <a:rPr lang="en-US" sz="1300" dirty="0">
                <a:solidFill>
                  <a:srgbClr val="555555"/>
                </a:solidFill>
              </a:rPr>
              <a:t>per client contract, from memory</a:t>
            </a:r>
            <a:endParaRPr lang="en-US" sz="1300" dirty="0"/>
          </a:p>
        </p:txBody>
      </p:sp>
      <p:sp>
        <p:nvSpPr>
          <p:cNvPr id="9" name="stat in the queue; a deal waits for an evening"/>
          <p:cNvSpPr txBox="1"/>
          <p:nvPr/>
        </p:nvSpPr>
        <p:spPr>
          <a:xfrm>
            <a:off x="9052560" y="4389120"/>
            <a:ext cx="2743200" cy="822960"/>
          </a:xfrm>
          <a:prstGeom prst="rect">
            <a:avLst/>
          </a:prstGeom>
          <a:noFill/>
          <a:ln/>
        </p:spPr>
        <p:txBody>
          <a:bodyPr wrap="square" lIns="0" tIns="0" rIns="0" bIns="0" rtlCol="0" anchor="ctr"/>
          <a:lstStyle/>
          <a:p>
            <a:pPr marL="0" indent="0">
              <a:buNone/>
            </a:pPr>
            <a:r>
              <a:rPr lang="en-US" sz="4000" b="1" dirty="0">
                <a:solidFill>
                  <a:schemeClr val="accent4"/>
                </a:solidFill>
              </a:rPr>
              <a:t>~1 week</a:t>
            </a:r>
            <a:endParaRPr lang="en-US" sz="4000" dirty="0"/>
          </a:p>
        </p:txBody>
      </p:sp>
      <p:sp>
        <p:nvSpPr>
          <p:cNvPr id="10" name="stat label in the queue; a deal waits for an evening"/>
          <p:cNvSpPr txBox="1"/>
          <p:nvPr/>
        </p:nvSpPr>
        <p:spPr>
          <a:xfrm>
            <a:off x="9052560" y="5212080"/>
            <a:ext cx="2743200" cy="457200"/>
          </a:xfrm>
          <a:prstGeom prst="rect">
            <a:avLst/>
          </a:prstGeom>
          <a:noFill/>
          <a:ln/>
        </p:spPr>
        <p:txBody>
          <a:bodyPr wrap="square" lIns="0" tIns="0" rIns="0" bIns="0" rtlCol="0" anchor="ctr"/>
          <a:lstStyle/>
          <a:p>
            <a:pPr marL="0" indent="0">
              <a:buNone/>
            </a:pPr>
            <a:r>
              <a:rPr lang="en-US" sz="1300" dirty="0">
                <a:solidFill>
                  <a:srgbClr val="555555"/>
                </a:solidFill>
              </a:rPr>
              <a:t>in the queue; a deal waits for an evening</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What we heard: past behaviour, not opinions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66751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123A5E"/>
                          </a:solidFill>
                          <a:latin typeface="Calibri" pitchFamily="34" charset="0"/>
                          <a:ea typeface="Calibri" pitchFamily="34" charset="-122"/>
                          <a:cs typeface="Calibri" pitchFamily="34" charset="-120"/>
                        </a:rPr>
                        <a:t>We asked</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8"/>
                    </a:solidFill>
                  </a:tcPr>
                </a:tc>
                <a:tc>
                  <a:txBody>
                    <a:bodyPr/>
                    <a:lstStyle/>
                    <a:p>
                      <a:pPr marL="0" indent="0">
                        <a:buNone/>
                      </a:pPr>
                      <a:r>
                        <a:rPr lang="en-US" sz="1200" b="1" dirty="0">
                          <a:solidFill>
                            <a:srgbClr val="123A5E"/>
                          </a:solidFill>
                          <a:latin typeface="Calibri" pitchFamily="34" charset="0"/>
                          <a:ea typeface="Calibri" pitchFamily="34" charset="-122"/>
                          <a:cs typeface="Calibri" pitchFamily="34" charset="-120"/>
                        </a:rPr>
                        <a:t>What came back</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8"/>
                    </a:solidFill>
                  </a:tcPr>
                </a:tc>
                <a:tc>
                  <a:txBody>
                    <a:bodyPr/>
                    <a:lstStyle/>
                    <a:p>
                      <a:pPr marL="0" indent="0">
                        <a:buNone/>
                      </a:pPr>
                      <a:r>
                        <a:rPr lang="en-US" sz="1200" b="1" dirty="0">
                          <a:solidFill>
                            <a:srgbClr val="123A5E"/>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8"/>
                    </a:solidFill>
                  </a:tcPr>
                </a:tc>
                <a:extLst>
                  <a:ext uri="{0D108BD9-81ED-4DB2-BD59-A6C34878D82A}">
                    <a16:rowId xmlns:a16="http://schemas.microsoft.com/office/drawing/2014/main" val="10000"/>
                  </a:ext>
                </a:extLst>
              </a:tr>
              <a:tr h="73152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Walk me through the last review</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Harrington: $210k, their paper, three documents now. "A whole evening and I haven't started." 3 to 4 hours per client MSA, after BAU work in the late evening.</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Queue meeting</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What happened last time one went wrong?</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Brightwater: signed at the airport, uncapped delay penalty, UK law. $9,000 settlement, $14,200 legal bill, two weeks of senior time. "I didn't even see it."</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Post-mortem, 14 Apr</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How do you check what AtliQ already promised?</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Memory, asking co-founders, opening old contracts one by one. Al Noor took 20 minutes to find during a paid counsel call. "Is there a list?" Silence.</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Counsel call, 25 Sep; client meeting</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How many come in?</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3 to 4 contracts and 4 to 5 NDAs a month, seasonal; volume roughly doubled in a year.</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Office hours</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4"/>
                  </a:ext>
                </a:extLst>
              </a:tr>
              <a:tr h="73152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If this were handled perfectly?</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One complete overview: every clause against policy, past projects and past clients in that region, nothing left grey, in under 5 minutes. The AI never signs.</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Office hours</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Five whys: from "review takes too long" to the real problem</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7223760" cy="914400"/>
        </p:xfrm>
        <a:graphic>
          <a:graphicData uri="http://schemas.openxmlformats.org/drawingml/2006/table">
            <a:tbl>
              <a:tblPr/>
              <a:tblGrid>
                <a:gridCol w="457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123A5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8"/>
                    </a:solidFill>
                  </a:tcPr>
                </a:tc>
                <a:tc>
                  <a:txBody>
                    <a:bodyPr/>
                    <a:lstStyle/>
                    <a:p>
                      <a:pPr marL="0" indent="0">
                        <a:buNone/>
                      </a:pPr>
                      <a:r>
                        <a:rPr lang="en-US" sz="1200" b="1" dirty="0">
                          <a:solidFill>
                            <a:srgbClr val="123A5E"/>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8"/>
                    </a:solidFill>
                  </a:tcPr>
                </a:tc>
                <a:tc>
                  <a:txBody>
                    <a:bodyPr/>
                    <a:lstStyle/>
                    <a:p>
                      <a:pPr marL="0" indent="0">
                        <a:buNone/>
                      </a:pPr>
                      <a:r>
                        <a:rPr lang="en-US" sz="1200" b="1" dirty="0">
                          <a:solidFill>
                            <a:srgbClr val="123A5E"/>
                          </a:solidFill>
                          <a:latin typeface="Calibri" pitchFamily="34" charset="0"/>
                          <a:ea typeface="Calibri" pitchFamily="34" charset="-122"/>
                          <a:cs typeface="Calibri" pitchFamily="34" charset="-120"/>
                        </a:rPr>
                        <a:t>Answer</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8"/>
                    </a:solidFill>
                  </a:tcPr>
                </a:tc>
                <a:extLst>
                  <a:ext uri="{0D108BD9-81ED-4DB2-BD59-A6C34878D82A}">
                    <a16:rowId xmlns:a16="http://schemas.microsoft.com/office/drawing/2014/main" val="10000"/>
                  </a:ext>
                </a:extLst>
              </a:tr>
              <a:tr h="713232">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Why hours?</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Every contract arrives on the other side's template; every clause is judged fresh.</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1"/>
                  </a:ext>
                </a:extLst>
              </a:tr>
              <a:tr h="82296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Why his judgment?</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Acceptability depends on context outside the document: past promises, past negotiations, entity, country.</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Why hard to apply?</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None of it is written down: contracts scattered, history in old threads, a 2024 checklist. It lives in his head.</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3"/>
                  </a:ext>
                </a:extLst>
              </a:tr>
              <a:tr h="82296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Why only in his head?</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No legal function ever existed; the knowledge grew over years of negotiating and nobody captured it.</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4"/>
                  </a:ext>
                </a:extLst>
              </a:tr>
              <a:tr h="82296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Why does memory fail now?</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Volume doubled, four regions, multi-document bundles, old restrictions still bind, late-evening reviews under deadline.</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card What Karandeep said"/>
          <p:cNvSpPr/>
          <p:nvPr/>
        </p:nvSpPr>
        <p:spPr>
          <a:xfrm>
            <a:off x="8046720" y="1188720"/>
            <a:ext cx="3566160" cy="1234440"/>
          </a:xfrm>
          <a:prstGeom prst="roundRect">
            <a:avLst>
              <a:gd name="adj" fmla="val 5926"/>
            </a:avLst>
          </a:prstGeom>
          <a:solidFill>
            <a:srgbClr val="FDF9EC"/>
          </a:solidFill>
          <a:ln w="9525">
            <a:solidFill>
              <a:srgbClr val="D5DCE6"/>
            </a:solidFill>
            <a:prstDash val="solid"/>
          </a:ln>
        </p:spPr>
      </p:sp>
      <p:sp>
        <p:nvSpPr>
          <p:cNvPr id="6" name="card head What Karandeep said"/>
          <p:cNvSpPr txBox="1"/>
          <p:nvPr/>
        </p:nvSpPr>
        <p:spPr>
          <a:xfrm>
            <a:off x="8211312" y="1298448"/>
            <a:ext cx="3236976" cy="365760"/>
          </a:xfrm>
          <a:prstGeom prst="rect">
            <a:avLst/>
          </a:prstGeom>
          <a:noFill/>
          <a:ln/>
        </p:spPr>
        <p:txBody>
          <a:bodyPr wrap="square" lIns="0" tIns="0" rIns="0" bIns="0" rtlCol="0" anchor="ctr"/>
          <a:lstStyle/>
          <a:p>
            <a:pPr marL="0" indent="0">
              <a:buNone/>
            </a:pPr>
            <a:r>
              <a:rPr lang="en-US" sz="1500" b="1" dirty="0">
                <a:solidFill>
                  <a:schemeClr val="tx2"/>
                </a:solidFill>
              </a:rPr>
              <a:t>What Karandeep said</a:t>
            </a:r>
            <a:endParaRPr lang="en-US" sz="1500" dirty="0"/>
          </a:p>
        </p:txBody>
      </p:sp>
      <p:sp>
        <p:nvSpPr>
          <p:cNvPr id="7" name="card body What Karandeep said"/>
          <p:cNvSpPr txBox="1"/>
          <p:nvPr/>
        </p:nvSpPr>
        <p:spPr>
          <a:xfrm>
            <a:off x="8211312" y="1664208"/>
            <a:ext cx="3236976" cy="667512"/>
          </a:xfrm>
          <a:prstGeom prst="rect">
            <a:avLst/>
          </a:prstGeom>
          <a:noFill/>
          <a:ln/>
        </p:spPr>
        <p:txBody>
          <a:bodyPr wrap="square" lIns="0" tIns="0" rIns="0" bIns="0" rtlCol="0" anchor="t"/>
          <a:lstStyle/>
          <a:p>
            <a:pPr marL="0" indent="0">
              <a:buNone/>
            </a:pPr>
            <a:r>
              <a:rPr lang="en-US" sz="1250" dirty="0">
                <a:solidFill>
                  <a:schemeClr val="tx1"/>
                </a:solidFill>
              </a:rPr>
              <a:t>"Contract review takes too long."</a:t>
            </a:r>
            <a:endParaRPr lang="en-US" sz="1250" dirty="0"/>
          </a:p>
        </p:txBody>
      </p:sp>
      <p:sp>
        <p:nvSpPr>
          <p:cNvPr id="8" name="card The real problem"/>
          <p:cNvSpPr/>
          <p:nvPr/>
        </p:nvSpPr>
        <p:spPr>
          <a:xfrm>
            <a:off x="8046720" y="2606040"/>
            <a:ext cx="3566160" cy="2651760"/>
          </a:xfrm>
          <a:prstGeom prst="roundRect">
            <a:avLst>
              <a:gd name="adj" fmla="val 2759"/>
            </a:avLst>
          </a:prstGeom>
          <a:solidFill>
            <a:srgbClr val="EAF6EE"/>
          </a:solidFill>
          <a:ln w="9525">
            <a:solidFill>
              <a:srgbClr val="D5DCE6"/>
            </a:solidFill>
            <a:prstDash val="solid"/>
          </a:ln>
        </p:spPr>
      </p:sp>
      <p:sp>
        <p:nvSpPr>
          <p:cNvPr id="9" name="card head The real problem"/>
          <p:cNvSpPr txBox="1"/>
          <p:nvPr/>
        </p:nvSpPr>
        <p:spPr>
          <a:xfrm>
            <a:off x="8211312" y="2715768"/>
            <a:ext cx="3236976" cy="365760"/>
          </a:xfrm>
          <a:prstGeom prst="rect">
            <a:avLst/>
          </a:prstGeom>
          <a:noFill/>
          <a:ln/>
        </p:spPr>
        <p:txBody>
          <a:bodyPr wrap="square" lIns="0" tIns="0" rIns="0" bIns="0" rtlCol="0" anchor="ctr"/>
          <a:lstStyle/>
          <a:p>
            <a:pPr marL="0" indent="0">
              <a:buNone/>
            </a:pPr>
            <a:r>
              <a:rPr lang="en-US" sz="1500" b="1" dirty="0">
                <a:solidFill>
                  <a:schemeClr val="tx2"/>
                </a:solidFill>
              </a:rPr>
              <a:t>The real problem</a:t>
            </a:r>
            <a:endParaRPr lang="en-US" sz="1500" dirty="0"/>
          </a:p>
        </p:txBody>
      </p:sp>
      <p:sp>
        <p:nvSpPr>
          <p:cNvPr id="10" name="card body The real problem"/>
          <p:cNvSpPr txBox="1"/>
          <p:nvPr/>
        </p:nvSpPr>
        <p:spPr>
          <a:xfrm>
            <a:off x="8211312" y="3081528"/>
            <a:ext cx="3236976" cy="2084832"/>
          </a:xfrm>
          <a:prstGeom prst="rect">
            <a:avLst/>
          </a:prstGeom>
          <a:noFill/>
          <a:ln/>
        </p:spPr>
        <p:txBody>
          <a:bodyPr wrap="square" lIns="0" tIns="0" rIns="0" bIns="0" rtlCol="0" anchor="t"/>
          <a:lstStyle/>
          <a:p>
            <a:pPr marL="0" indent="0">
              <a:buNone/>
            </a:pPr>
            <a:r>
              <a:rPr lang="en-US" sz="1250" dirty="0">
                <a:solidFill>
                  <a:schemeClr val="tx1"/>
                </a:solidFill>
              </a:rPr>
              <a:t>AtliQ's contract knowledge, what it has promised, how it negotiates and what each deal needs, exists only in one person's memory. Review cannot be shared, delegated or made safe, and the risks that matter most are the ones the document in front of him does not show.</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Where AI helps, where rules do, and what waits</a:t>
            </a:r>
            <a:endParaRPr lang="en-US" sz="3000" dirty="0"/>
          </a:p>
        </p:txBody>
      </p:sp>
      <p:sp>
        <p:nvSpPr>
          <p:cNvPr id="4" name="card AI does the reading"/>
          <p:cNvSpPr/>
          <p:nvPr/>
        </p:nvSpPr>
        <p:spPr>
          <a:xfrm>
            <a:off x="548640" y="1188720"/>
            <a:ext cx="5486400" cy="4206240"/>
          </a:xfrm>
          <a:prstGeom prst="roundRect">
            <a:avLst>
              <a:gd name="adj" fmla="val 1739"/>
            </a:avLst>
          </a:prstGeom>
          <a:solidFill>
            <a:srgbClr val="EAF6EE"/>
          </a:solidFill>
          <a:ln w="9525">
            <a:solidFill>
              <a:srgbClr val="D5DCE6"/>
            </a:solidFill>
            <a:prstDash val="solid"/>
          </a:ln>
        </p:spPr>
      </p:sp>
      <p:sp>
        <p:nvSpPr>
          <p:cNvPr id="5" name="card head AI does the reading"/>
          <p:cNvSpPr txBox="1"/>
          <p:nvPr/>
        </p:nvSpPr>
        <p:spPr>
          <a:xfrm>
            <a:off x="713232" y="1298448"/>
            <a:ext cx="5157216" cy="365760"/>
          </a:xfrm>
          <a:prstGeom prst="rect">
            <a:avLst/>
          </a:prstGeom>
          <a:noFill/>
          <a:ln/>
        </p:spPr>
        <p:txBody>
          <a:bodyPr wrap="square" lIns="0" tIns="0" rIns="0" bIns="0" rtlCol="0" anchor="ctr"/>
          <a:lstStyle/>
          <a:p>
            <a:pPr marL="0" indent="0">
              <a:buNone/>
            </a:pPr>
            <a:r>
              <a:rPr lang="en-US" sz="1500" b="1" dirty="0">
                <a:solidFill>
                  <a:schemeClr val="tx2"/>
                </a:solidFill>
              </a:rPr>
              <a:t>AI does the reading</a:t>
            </a:r>
            <a:endParaRPr lang="en-US" sz="1500" dirty="0"/>
          </a:p>
        </p:txBody>
      </p:sp>
      <p:sp>
        <p:nvSpPr>
          <p:cNvPr id="6" name="card body AI does the reading"/>
          <p:cNvSpPr txBox="1"/>
          <p:nvPr/>
        </p:nvSpPr>
        <p:spPr>
          <a:xfrm>
            <a:off x="713232" y="1664208"/>
            <a:ext cx="5157216" cy="3639312"/>
          </a:xfrm>
          <a:prstGeom prst="rect">
            <a:avLst/>
          </a:prstGeom>
          <a:noFill/>
          <a:ln/>
        </p:spPr>
        <p:txBody>
          <a:bodyPr wrap="square" lIns="0" tIns="0" rIns="0" bIns="0" rtlCol="0" anchor="t"/>
          <a:lstStyle/>
          <a:p>
            <a:pPr marL="0" indent="0">
              <a:buNone/>
            </a:pPr>
            <a:r>
              <a:rPr lang="en-US" sz="1250" dirty="0">
                <a:solidFill>
                  <a:schemeClr val="tx1"/>
                </a:solidFill>
              </a:rPr>
              <a:t>1  Reads every clause: a type, a plain-English line, a verdict (fine, needs attention, conflict) and the quoted text.</a:t>
            </a:r>
            <a:endParaRPr lang="en-US" sz="1250" dirty="0"/>
          </a:p>
          <a:p>
            <a:pPr marL="0" indent="0">
              <a:buNone/>
            </a:pPr>
            <a:endParaRPr lang="en-US" sz="1250" dirty="0"/>
          </a:p>
          <a:p>
            <a:pPr marL="0" indent="0">
              <a:buNone/>
            </a:pPr>
            <a:r>
              <a:rPr lang="en-US" sz="1250" dirty="0">
                <a:solidFill>
                  <a:schemeClr val="tx1"/>
                </a:solidFill>
              </a:rPr>
              <a:t>2  Checks the deal against the obligations register, built once from the signed contracts and confirmed by Karandeep; a conflict is shown only with both clauses quoted.</a:t>
            </a:r>
            <a:endParaRPr lang="en-US" sz="1250" dirty="0"/>
          </a:p>
          <a:p>
            <a:pPr marL="0" indent="0">
              <a:buNone/>
            </a:pPr>
            <a:endParaRPr lang="en-US" sz="1250" dirty="0"/>
          </a:p>
          <a:p>
            <a:pPr marL="0" indent="0">
              <a:buNone/>
            </a:pPr>
            <a:r>
              <a:rPr lang="en-US" sz="1250" dirty="0">
                <a:solidFill>
                  <a:schemeClr val="tx1"/>
                </a:solidFill>
              </a:rPr>
              <a:t>3  Finds what AtliQ did on similar clauses before, shown as history, never policy.</a:t>
            </a:r>
            <a:endParaRPr lang="en-US" sz="1250" dirty="0"/>
          </a:p>
          <a:p>
            <a:pPr marL="0" indent="0">
              <a:buNone/>
            </a:pPr>
            <a:endParaRPr lang="en-US" sz="1250" dirty="0"/>
          </a:p>
          <a:p>
            <a:pPr marL="0" indent="0">
              <a:buNone/>
            </a:pPr>
            <a:r>
              <a:rPr lang="en-US" sz="1250" dirty="0">
                <a:solidFill>
                  <a:schemeClr val="tx1"/>
                </a:solidFill>
              </a:rPr>
              <a:t>4  Checks mutuality in both directions, including AtliQ's own paper.</a:t>
            </a:r>
            <a:endParaRPr lang="en-US" sz="1250" dirty="0"/>
          </a:p>
          <a:p>
            <a:pPr marL="0" indent="0">
              <a:buNone/>
            </a:pPr>
            <a:endParaRPr lang="en-US" sz="1250" dirty="0"/>
          </a:p>
          <a:p>
            <a:pPr marL="0" indent="0">
              <a:buNone/>
            </a:pPr>
            <a:r>
              <a:rPr lang="en-US" sz="1250" dirty="0">
                <a:solidFill>
                  <a:schemeClr val="tx1"/>
                </a:solidFill>
              </a:rPr>
              <a:t>5  Writes the brief with a suggested next step. A person decides.</a:t>
            </a:r>
            <a:endParaRPr lang="en-US" sz="1250" dirty="0"/>
          </a:p>
        </p:txBody>
      </p:sp>
      <p:sp>
        <p:nvSpPr>
          <p:cNvPr id="7" name="card Rules, not AI"/>
          <p:cNvSpPr/>
          <p:nvPr/>
        </p:nvSpPr>
        <p:spPr>
          <a:xfrm>
            <a:off x="6309360" y="1188720"/>
            <a:ext cx="5303520" cy="1920240"/>
          </a:xfrm>
          <a:prstGeom prst="roundRect">
            <a:avLst>
              <a:gd name="adj" fmla="val 3810"/>
            </a:avLst>
          </a:prstGeom>
          <a:solidFill>
            <a:srgbClr val="EEF3F8"/>
          </a:solidFill>
          <a:ln w="9525">
            <a:solidFill>
              <a:srgbClr val="D5DCE6"/>
            </a:solidFill>
            <a:prstDash val="solid"/>
          </a:ln>
        </p:spPr>
      </p:sp>
      <p:sp>
        <p:nvSpPr>
          <p:cNvPr id="8" name="card head Rules, not AI"/>
          <p:cNvSpPr txBox="1"/>
          <p:nvPr/>
        </p:nvSpPr>
        <p:spPr>
          <a:xfrm>
            <a:off x="6473952" y="1298448"/>
            <a:ext cx="4974336" cy="365760"/>
          </a:xfrm>
          <a:prstGeom prst="rect">
            <a:avLst/>
          </a:prstGeom>
          <a:noFill/>
          <a:ln/>
        </p:spPr>
        <p:txBody>
          <a:bodyPr wrap="square" lIns="0" tIns="0" rIns="0" bIns="0" rtlCol="0" anchor="ctr"/>
          <a:lstStyle/>
          <a:p>
            <a:pPr marL="0" indent="0">
              <a:buNone/>
            </a:pPr>
            <a:r>
              <a:rPr lang="en-US" sz="1500" b="1" dirty="0">
                <a:solidFill>
                  <a:schemeClr val="tx2"/>
                </a:solidFill>
              </a:rPr>
              <a:t>Rules, not AI</a:t>
            </a:r>
            <a:endParaRPr lang="en-US" sz="1500" dirty="0"/>
          </a:p>
        </p:txBody>
      </p:sp>
      <p:sp>
        <p:nvSpPr>
          <p:cNvPr id="9" name="card body Rules, not AI"/>
          <p:cNvSpPr txBox="1"/>
          <p:nvPr/>
        </p:nvSpPr>
        <p:spPr>
          <a:xfrm>
            <a:off x="6473952" y="1664208"/>
            <a:ext cx="4974336" cy="1353312"/>
          </a:xfrm>
          <a:prstGeom prst="rect">
            <a:avLst/>
          </a:prstGeom>
          <a:noFill/>
          <a:ln/>
        </p:spPr>
        <p:txBody>
          <a:bodyPr wrap="square" lIns="0" tIns="0" rIns="0" bIns="0" rtlCol="0" anchor="t"/>
          <a:lstStyle/>
          <a:p>
            <a:pPr marL="0" indent="0">
              <a:buNone/>
            </a:pPr>
            <a:r>
              <a:rPr lang="en-US" sz="1250" dirty="0">
                <a:solidFill>
                  <a:schemeClr val="tx1"/>
                </a:solidFill>
              </a:rPr>
              <a:t>Entity to country to law and courts; the documents each deal type needs; insurance and payment gaps. A lookup table cannot invent a rule (the facts it reads are extracted by the model and shown for checking), and the client said no fixed legal checklist exists, so it flags and never asserts.</a:t>
            </a:r>
            <a:endParaRPr lang="en-US" sz="1250" dirty="0"/>
          </a:p>
        </p:txBody>
      </p:sp>
      <p:sp>
        <p:nvSpPr>
          <p:cNvPr id="10" name="card Deferred, on purpose"/>
          <p:cNvSpPr/>
          <p:nvPr/>
        </p:nvSpPr>
        <p:spPr>
          <a:xfrm>
            <a:off x="6309360" y="3291840"/>
            <a:ext cx="5303520" cy="2103120"/>
          </a:xfrm>
          <a:prstGeom prst="roundRect">
            <a:avLst>
              <a:gd name="adj" fmla="val 3478"/>
            </a:avLst>
          </a:prstGeom>
          <a:solidFill>
            <a:srgbClr val="FDF9EC"/>
          </a:solidFill>
          <a:ln w="9525">
            <a:solidFill>
              <a:srgbClr val="D5DCE6"/>
            </a:solidFill>
            <a:prstDash val="solid"/>
          </a:ln>
        </p:spPr>
      </p:sp>
      <p:sp>
        <p:nvSpPr>
          <p:cNvPr id="11" name="card head Deferred, on purpose"/>
          <p:cNvSpPr txBox="1"/>
          <p:nvPr/>
        </p:nvSpPr>
        <p:spPr>
          <a:xfrm>
            <a:off x="6473952" y="3401568"/>
            <a:ext cx="4974336" cy="365760"/>
          </a:xfrm>
          <a:prstGeom prst="rect">
            <a:avLst/>
          </a:prstGeom>
          <a:noFill/>
          <a:ln/>
        </p:spPr>
        <p:txBody>
          <a:bodyPr wrap="square" lIns="0" tIns="0" rIns="0" bIns="0" rtlCol="0" anchor="ctr"/>
          <a:lstStyle/>
          <a:p>
            <a:pPr marL="0" indent="0">
              <a:buNone/>
            </a:pPr>
            <a:r>
              <a:rPr lang="en-US" sz="1500" b="1" dirty="0">
                <a:solidFill>
                  <a:schemeClr val="tx2"/>
                </a:solidFill>
              </a:rPr>
              <a:t>Deferred, on purpose</a:t>
            </a:r>
            <a:endParaRPr lang="en-US" sz="1500" dirty="0"/>
          </a:p>
        </p:txBody>
      </p:sp>
      <p:sp>
        <p:nvSpPr>
          <p:cNvPr id="12" name="card body Deferred, on purpose"/>
          <p:cNvSpPr txBox="1"/>
          <p:nvPr/>
        </p:nvSpPr>
        <p:spPr>
          <a:xfrm>
            <a:off x="6473952" y="3767328"/>
            <a:ext cx="4974336" cy="1536192"/>
          </a:xfrm>
          <a:prstGeom prst="rect">
            <a:avLst/>
          </a:prstGeom>
          <a:noFill/>
          <a:ln/>
        </p:spPr>
        <p:txBody>
          <a:bodyPr wrap="square" lIns="0" tIns="0" rIns="0" bIns="0" rtlCol="0" anchor="t"/>
          <a:lstStyle/>
          <a:p>
            <a:pPr marL="0" indent="0">
              <a:buNone/>
            </a:pPr>
            <a:r>
              <a:rPr lang="en-US" sz="1250" dirty="0">
                <a:solidFill>
                  <a:schemeClr val="tx1"/>
                </a:solidFill>
              </a:rPr>
              <a:t>Counter-proposal drafting, mailbox and WhatsApp intake, client payment-history checks. Each waits for a trigger: a data source, a measured need, or precedent proving useful. The client scoped freelancer and agency paper out; the mutuality and paperwork checks on it are kept as a stated extension.</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The solution: AI reviews, people approve, negotiate and sign</a:t>
            </a:r>
            <a:endParaRPr lang="en-US" sz="3000" dirty="0"/>
          </a:p>
        </p:txBody>
      </p:sp>
      <p:pic>
        <p:nvPicPr>
          <p:cNvPr id="4" name="diagram_2.png" descr="E:\Coding\CB AI PM Cohort\Capstone\Capstone 2 AtliQ Contract Risk Analyzer\Working\screenshots\diagram_2.png"/>
          <p:cNvPicPr>
            <a:picLocks noChangeAspect="1"/>
          </p:cNvPicPr>
          <p:nvPr/>
        </p:nvPicPr>
        <p:blipFill>
          <a:blip r:embed="rId3"/>
          <a:stretch>
            <a:fillRect/>
          </a:stretch>
        </p:blipFill>
        <p:spPr>
          <a:xfrm>
            <a:off x="548640" y="1188720"/>
            <a:ext cx="8412480" cy="5144217"/>
          </a:xfrm>
          <a:prstGeom prst="rect">
            <a:avLst/>
          </a:prstGeom>
        </p:spPr>
      </p:pic>
      <p:sp>
        <p:nvSpPr>
          <p:cNvPr id="5" name="card Five checks"/>
          <p:cNvSpPr/>
          <p:nvPr/>
        </p:nvSpPr>
        <p:spPr>
          <a:xfrm>
            <a:off x="9235440" y="1188720"/>
            <a:ext cx="2377440" cy="1645920"/>
          </a:xfrm>
          <a:prstGeom prst="roundRect">
            <a:avLst>
              <a:gd name="adj" fmla="val 4444"/>
            </a:avLst>
          </a:prstGeom>
          <a:solidFill>
            <a:srgbClr val="EEF3F8"/>
          </a:solidFill>
          <a:ln w="9525">
            <a:solidFill>
              <a:srgbClr val="D5DCE6"/>
            </a:solidFill>
            <a:prstDash val="solid"/>
          </a:ln>
        </p:spPr>
      </p:sp>
      <p:sp>
        <p:nvSpPr>
          <p:cNvPr id="6" name="card head Five checks"/>
          <p:cNvSpPr txBox="1"/>
          <p:nvPr/>
        </p:nvSpPr>
        <p:spPr>
          <a:xfrm>
            <a:off x="9400032" y="1298448"/>
            <a:ext cx="2048256" cy="365760"/>
          </a:xfrm>
          <a:prstGeom prst="rect">
            <a:avLst/>
          </a:prstGeom>
          <a:noFill/>
          <a:ln/>
        </p:spPr>
        <p:txBody>
          <a:bodyPr wrap="square" lIns="0" tIns="0" rIns="0" bIns="0" rtlCol="0" anchor="ctr"/>
          <a:lstStyle/>
          <a:p>
            <a:pPr marL="0" indent="0">
              <a:buNone/>
            </a:pPr>
            <a:r>
              <a:rPr lang="en-US" sz="1500" b="1" dirty="0">
                <a:solidFill>
                  <a:schemeClr val="tx2"/>
                </a:solidFill>
              </a:rPr>
              <a:t>Five checks</a:t>
            </a:r>
            <a:endParaRPr lang="en-US" sz="1500" dirty="0"/>
          </a:p>
        </p:txBody>
      </p:sp>
      <p:sp>
        <p:nvSpPr>
          <p:cNvPr id="7" name="card body Five checks"/>
          <p:cNvSpPr txBox="1"/>
          <p:nvPr/>
        </p:nvSpPr>
        <p:spPr>
          <a:xfrm>
            <a:off x="9400032" y="1664208"/>
            <a:ext cx="2048256" cy="1078992"/>
          </a:xfrm>
          <a:prstGeom prst="rect">
            <a:avLst/>
          </a:prstGeom>
          <a:noFill/>
          <a:ln/>
        </p:spPr>
        <p:txBody>
          <a:bodyPr wrap="square" lIns="0" tIns="0" rIns="0" bIns="0" rtlCol="0" anchor="t"/>
          <a:lstStyle/>
          <a:p>
            <a:pPr marL="0" indent="0">
              <a:buNone/>
            </a:pPr>
            <a:r>
              <a:rPr lang="en-US" sz="1250" dirty="0">
                <a:solidFill>
                  <a:schemeClr val="tx1"/>
                </a:solidFill>
              </a:rPr>
              <a:t>1 Every clause, with a quote</a:t>
            </a:r>
            <a:endParaRPr lang="en-US" sz="1250" dirty="0"/>
          </a:p>
          <a:p>
            <a:pPr marL="0" indent="0">
              <a:buNone/>
            </a:pPr>
            <a:r>
              <a:rPr lang="en-US" sz="1250" dirty="0">
                <a:solidFill>
                  <a:schemeClr val="tx1"/>
                </a:solidFill>
              </a:rPr>
              <a:t>2 Register of past promises</a:t>
            </a:r>
            <a:endParaRPr lang="en-US" sz="1250" dirty="0"/>
          </a:p>
          <a:p>
            <a:pPr marL="0" indent="0">
              <a:buNone/>
            </a:pPr>
            <a:r>
              <a:rPr lang="en-US" sz="1250" dirty="0">
                <a:solidFill>
                  <a:schemeClr val="tx1"/>
                </a:solidFill>
              </a:rPr>
              <a:t>3 Precedent, as history</a:t>
            </a:r>
            <a:endParaRPr lang="en-US" sz="1250" dirty="0"/>
          </a:p>
          <a:p>
            <a:pPr marL="0" indent="0">
              <a:buNone/>
            </a:pPr>
            <a:r>
              <a:rPr lang="en-US" sz="1250" dirty="0">
                <a:solidFill>
                  <a:schemeClr val="tx1"/>
                </a:solidFill>
              </a:rPr>
              <a:t>4 Entity, country, documents</a:t>
            </a:r>
            <a:endParaRPr lang="en-US" sz="1250" dirty="0"/>
          </a:p>
          <a:p>
            <a:pPr marL="0" indent="0">
              <a:buNone/>
            </a:pPr>
            <a:r>
              <a:rPr lang="en-US" sz="1250" dirty="0">
                <a:solidFill>
                  <a:schemeClr val="tx1"/>
                </a:solidFill>
              </a:rPr>
              <a:t>5 Mutuality, both ways</a:t>
            </a:r>
            <a:endParaRPr lang="en-US" sz="1250" dirty="0"/>
          </a:p>
        </p:txBody>
      </p:sp>
      <p:sp>
        <p:nvSpPr>
          <p:cNvPr id="8" name="card Trust by design (HAX)"/>
          <p:cNvSpPr/>
          <p:nvPr/>
        </p:nvSpPr>
        <p:spPr>
          <a:xfrm>
            <a:off x="9235440" y="2926080"/>
            <a:ext cx="2377440" cy="1965960"/>
          </a:xfrm>
          <a:prstGeom prst="roundRect">
            <a:avLst>
              <a:gd name="adj" fmla="val 3721"/>
            </a:avLst>
          </a:prstGeom>
          <a:solidFill>
            <a:srgbClr val="FDF9EC"/>
          </a:solidFill>
          <a:ln w="9525">
            <a:solidFill>
              <a:srgbClr val="D5DCE6"/>
            </a:solidFill>
            <a:prstDash val="solid"/>
          </a:ln>
        </p:spPr>
      </p:sp>
      <p:sp>
        <p:nvSpPr>
          <p:cNvPr id="9" name="card head Trust by design (HAX)"/>
          <p:cNvSpPr txBox="1"/>
          <p:nvPr/>
        </p:nvSpPr>
        <p:spPr>
          <a:xfrm>
            <a:off x="9400032" y="3035808"/>
            <a:ext cx="2048256" cy="365760"/>
          </a:xfrm>
          <a:prstGeom prst="rect">
            <a:avLst/>
          </a:prstGeom>
          <a:noFill/>
          <a:ln/>
        </p:spPr>
        <p:txBody>
          <a:bodyPr wrap="square" lIns="0" tIns="0" rIns="0" bIns="0" rtlCol="0" anchor="ctr"/>
          <a:lstStyle/>
          <a:p>
            <a:pPr marL="0" indent="0">
              <a:buNone/>
            </a:pPr>
            <a:r>
              <a:rPr lang="en-US" sz="1500" b="1" dirty="0">
                <a:solidFill>
                  <a:schemeClr val="tx2"/>
                </a:solidFill>
              </a:rPr>
              <a:t>Trust by design (HAX)</a:t>
            </a:r>
            <a:endParaRPr lang="en-US" sz="1500" dirty="0"/>
          </a:p>
        </p:txBody>
      </p:sp>
      <p:sp>
        <p:nvSpPr>
          <p:cNvPr id="10" name="card body Trust by design (HAX)"/>
          <p:cNvSpPr txBox="1"/>
          <p:nvPr/>
        </p:nvSpPr>
        <p:spPr>
          <a:xfrm>
            <a:off x="9400032" y="3401568"/>
            <a:ext cx="2048256" cy="1399032"/>
          </a:xfrm>
          <a:prstGeom prst="rect">
            <a:avLst/>
          </a:prstGeom>
          <a:noFill/>
          <a:ln/>
        </p:spPr>
        <p:txBody>
          <a:bodyPr wrap="square" lIns="0" tIns="0" rIns="0" bIns="0" rtlCol="0" anchor="t"/>
          <a:lstStyle/>
          <a:p>
            <a:pPr marL="0" indent="0">
              <a:buNone/>
            </a:pPr>
            <a:r>
              <a:rPr lang="en-US" sz="1250" dirty="0">
                <a:solidFill>
                  <a:schemeClr val="tx1"/>
                </a:solidFill>
              </a:rPr>
              <a:t>Says what it can and cannot do</a:t>
            </a:r>
            <a:endParaRPr lang="en-US" sz="1250" dirty="0"/>
          </a:p>
          <a:p>
            <a:pPr marL="0" indent="0">
              <a:buNone/>
            </a:pPr>
            <a:r>
              <a:rPr lang="en-US" sz="1250" dirty="0">
                <a:solidFill>
                  <a:schemeClr val="tx1"/>
                </a:solidFill>
              </a:rPr>
              <a:t>Shows confidence per verdict</a:t>
            </a:r>
            <a:endParaRPr lang="en-US" sz="1250" dirty="0"/>
          </a:p>
          <a:p>
            <a:pPr marL="0" indent="0">
              <a:buNone/>
            </a:pPr>
            <a:r>
              <a:rPr lang="en-US" sz="1250" dirty="0">
                <a:solidFill>
                  <a:schemeClr val="tx1"/>
                </a:solidFill>
              </a:rPr>
              <a:t>Progress steps, not a spinner</a:t>
            </a:r>
            <a:endParaRPr lang="en-US" sz="1250" dirty="0"/>
          </a:p>
          <a:p>
            <a:pPr marL="0" indent="0">
              <a:buNone/>
            </a:pPr>
            <a:r>
              <a:rPr lang="en-US" sz="1250" dirty="0">
                <a:solidFill>
                  <a:schemeClr val="tx1"/>
                </a:solidFill>
              </a:rPr>
              <a:t>Every finding quotes its source</a:t>
            </a:r>
            <a:endParaRPr lang="en-US" sz="1250" dirty="0"/>
          </a:p>
          <a:p>
            <a:pPr marL="0" indent="0">
              <a:buNone/>
            </a:pPr>
            <a:r>
              <a:rPr lang="en-US" sz="1250" dirty="0">
                <a:solidFill>
                  <a:schemeClr val="tx1"/>
                </a:solidFill>
              </a:rPr>
              <a:t>One-click override, with a reason</a:t>
            </a:r>
            <a:endParaRPr lang="en-US" sz="1250" dirty="0"/>
          </a:p>
          <a:p>
            <a:pPr marL="0" indent="0">
              <a:buNone/>
            </a:pPr>
            <a:r>
              <a:rPr lang="en-US" sz="1250" dirty="0">
                <a:solidFill>
                  <a:schemeClr val="tx1"/>
                </a:solidFill>
              </a:rPr>
              <a:t>"Not found" instead of a guess</a:t>
            </a:r>
            <a:endParaRPr lang="en-US" sz="1250" dirty="0"/>
          </a:p>
        </p:txBody>
      </p:sp>
      <p:sp>
        <p:nvSpPr>
          <p:cNvPr id="11" name="card Never"/>
          <p:cNvSpPr/>
          <p:nvPr/>
        </p:nvSpPr>
        <p:spPr>
          <a:xfrm>
            <a:off x="9235440" y="4983480"/>
            <a:ext cx="2377440" cy="1371600"/>
          </a:xfrm>
          <a:prstGeom prst="roundRect">
            <a:avLst>
              <a:gd name="adj" fmla="val 5333"/>
            </a:avLst>
          </a:prstGeom>
          <a:solidFill>
            <a:srgbClr val="FDF3F2"/>
          </a:solidFill>
          <a:ln w="9525">
            <a:solidFill>
              <a:srgbClr val="D5DCE6"/>
            </a:solidFill>
            <a:prstDash val="solid"/>
          </a:ln>
        </p:spPr>
      </p:sp>
      <p:sp>
        <p:nvSpPr>
          <p:cNvPr id="12" name="card head Never"/>
          <p:cNvSpPr txBox="1"/>
          <p:nvPr/>
        </p:nvSpPr>
        <p:spPr>
          <a:xfrm>
            <a:off x="9400032" y="5093208"/>
            <a:ext cx="2048256" cy="365760"/>
          </a:xfrm>
          <a:prstGeom prst="rect">
            <a:avLst/>
          </a:prstGeom>
          <a:noFill/>
          <a:ln/>
        </p:spPr>
        <p:txBody>
          <a:bodyPr wrap="square" lIns="0" tIns="0" rIns="0" bIns="0" rtlCol="0" anchor="ctr"/>
          <a:lstStyle/>
          <a:p>
            <a:pPr marL="0" indent="0">
              <a:buNone/>
            </a:pPr>
            <a:r>
              <a:rPr lang="en-US" sz="1500" b="1" dirty="0">
                <a:solidFill>
                  <a:schemeClr val="tx2"/>
                </a:solidFill>
              </a:rPr>
              <a:t>Never</a:t>
            </a:r>
            <a:endParaRPr lang="en-US" sz="1500" dirty="0"/>
          </a:p>
        </p:txBody>
      </p:sp>
      <p:sp>
        <p:nvSpPr>
          <p:cNvPr id="13" name="card body Never"/>
          <p:cNvSpPr txBox="1"/>
          <p:nvPr/>
        </p:nvSpPr>
        <p:spPr>
          <a:xfrm>
            <a:off x="9400032" y="5458968"/>
            <a:ext cx="2048256" cy="804672"/>
          </a:xfrm>
          <a:prstGeom prst="rect">
            <a:avLst/>
          </a:prstGeom>
          <a:noFill/>
          <a:ln/>
        </p:spPr>
        <p:txBody>
          <a:bodyPr wrap="square" lIns="0" tIns="0" rIns="0" bIns="0" rtlCol="0" anchor="t"/>
          <a:lstStyle/>
          <a:p>
            <a:pPr marL="0" indent="0">
              <a:buNone/>
            </a:pPr>
            <a:r>
              <a:rPr lang="en-US" sz="1250" dirty="0">
                <a:solidFill>
                  <a:schemeClr val="tx1"/>
                </a:solidFill>
              </a:rPr>
              <a:t>Signs, approves or sends.</a:t>
            </a:r>
            <a:endParaRPr lang="en-US" sz="1250" dirty="0"/>
          </a:p>
          <a:p>
            <a:pPr marL="0" indent="0">
              <a:buNone/>
            </a:pPr>
            <a:r>
              <a:rPr lang="en-US" sz="1250" dirty="0">
                <a:solidFill>
                  <a:schemeClr val="tx1"/>
                </a:solidFill>
              </a:rPr>
              <a:t>Gives legal advice.</a:t>
            </a:r>
            <a:endParaRPr lang="en-US" sz="1250" dirty="0"/>
          </a:p>
          <a:p>
            <a:pPr marL="0" indent="0">
              <a:buNone/>
            </a:pPr>
            <a:r>
              <a:rPr lang="en-US" sz="1250" dirty="0">
                <a:solidFill>
                  <a:schemeClr val="tx1"/>
                </a:solidFill>
              </a:rPr>
              <a:t>Calls a contract "safe".</a:t>
            </a:r>
            <a:endParaRPr lang="en-US" sz="1250" dirty="0"/>
          </a:p>
          <a:p>
            <a:pPr marL="0" indent="0">
              <a:buNone/>
            </a:pPr>
            <a:r>
              <a:rPr lang="en-US" sz="1250" dirty="0">
                <a:solidFill>
                  <a:schemeClr val="tx1"/>
                </a:solidFill>
              </a:rPr>
              <a:t>Sets a negotiation threshold.</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Walkthrough 1: the conflict nobody could find</a:t>
            </a:r>
            <a:endParaRPr lang="en-US" sz="3000" dirty="0"/>
          </a:p>
        </p:txBody>
      </p:sp>
      <p:pic>
        <p:nvPicPr>
          <p:cNvPr id="4" name="02_gulfcrown_conflicts.png" descr="E:\Coding\CB AI PM Cohort\Capstone\Capstone 2 AtliQ Contract Risk Analyzer\Working\screenshots\02_gulfcrown_conflicts.png"/>
          <p:cNvPicPr>
            <a:picLocks noChangeAspect="1"/>
          </p:cNvPicPr>
          <p:nvPr/>
        </p:nvPicPr>
        <p:blipFill>
          <a:blip r:embed="rId3"/>
          <a:stretch>
            <a:fillRect/>
          </a:stretch>
        </p:blipFill>
        <p:spPr>
          <a:xfrm>
            <a:off x="548640" y="1188720"/>
            <a:ext cx="11064240" cy="3498002"/>
          </a:xfrm>
          <a:prstGeom prst="rect">
            <a:avLst/>
          </a:prstGeom>
        </p:spPr>
      </p:pic>
      <p:sp>
        <p:nvSpPr>
          <p:cNvPr id="5" name="stat to find Al Noor on a paid counsel call"/>
          <p:cNvSpPr txBox="1"/>
          <p:nvPr/>
        </p:nvSpPr>
        <p:spPr>
          <a:xfrm>
            <a:off x="548640" y="4892040"/>
            <a:ext cx="3291840" cy="822960"/>
          </a:xfrm>
          <a:prstGeom prst="rect">
            <a:avLst/>
          </a:prstGeom>
          <a:noFill/>
          <a:ln/>
        </p:spPr>
        <p:txBody>
          <a:bodyPr wrap="square" lIns="0" tIns="0" rIns="0" bIns="0" rtlCol="0" anchor="ctr"/>
          <a:lstStyle/>
          <a:p>
            <a:pPr marL="0" indent="0">
              <a:buNone/>
            </a:pPr>
            <a:r>
              <a:rPr lang="en-US" sz="4000" b="1" dirty="0">
                <a:solidFill>
                  <a:schemeClr val="accent3"/>
                </a:solidFill>
              </a:rPr>
              <a:t>20 min</a:t>
            </a:r>
            <a:endParaRPr lang="en-US" sz="4000" dirty="0"/>
          </a:p>
        </p:txBody>
      </p:sp>
      <p:sp>
        <p:nvSpPr>
          <p:cNvPr id="6" name="stat label to find Al Noor on a paid counsel call"/>
          <p:cNvSpPr txBox="1"/>
          <p:nvPr/>
        </p:nvSpPr>
        <p:spPr>
          <a:xfrm>
            <a:off x="548640" y="5715000"/>
            <a:ext cx="3291840" cy="457200"/>
          </a:xfrm>
          <a:prstGeom prst="rect">
            <a:avLst/>
          </a:prstGeom>
          <a:noFill/>
          <a:ln/>
        </p:spPr>
        <p:txBody>
          <a:bodyPr wrap="square" lIns="0" tIns="0" rIns="0" bIns="0" rtlCol="0" anchor="ctr"/>
          <a:lstStyle/>
          <a:p>
            <a:pPr marL="0" indent="0">
              <a:buNone/>
            </a:pPr>
            <a:r>
              <a:rPr lang="en-US" sz="1300" dirty="0">
                <a:solidFill>
                  <a:srgbClr val="555555"/>
                </a:solidFill>
              </a:rPr>
              <a:t>to find Al Noor on a paid counsel call</a:t>
            </a:r>
            <a:endParaRPr lang="en-US" sz="1300" dirty="0"/>
          </a:p>
        </p:txBody>
      </p:sp>
      <p:sp>
        <p:nvSpPr>
          <p:cNvPr id="7" name="stat for the analyzer to quote both clauses"/>
          <p:cNvSpPr txBox="1"/>
          <p:nvPr/>
        </p:nvSpPr>
        <p:spPr>
          <a:xfrm>
            <a:off x="4206240" y="4892040"/>
            <a:ext cx="3291840" cy="822960"/>
          </a:xfrm>
          <a:prstGeom prst="rect">
            <a:avLst/>
          </a:prstGeom>
          <a:noFill/>
          <a:ln/>
        </p:spPr>
        <p:txBody>
          <a:bodyPr wrap="square" lIns="0" tIns="0" rIns="0" bIns="0" rtlCol="0" anchor="ctr"/>
          <a:lstStyle/>
          <a:p>
            <a:pPr marL="0" indent="0">
              <a:buNone/>
            </a:pPr>
            <a:r>
              <a:rPr lang="en-US" sz="4000" b="1" dirty="0">
                <a:solidFill>
                  <a:schemeClr val="accent2"/>
                </a:solidFill>
              </a:rPr>
              <a:t>94 s</a:t>
            </a:r>
            <a:endParaRPr lang="en-US" sz="4000" dirty="0"/>
          </a:p>
        </p:txBody>
      </p:sp>
      <p:sp>
        <p:nvSpPr>
          <p:cNvPr id="8" name="stat label for the analyzer to quote both clauses"/>
          <p:cNvSpPr txBox="1"/>
          <p:nvPr/>
        </p:nvSpPr>
        <p:spPr>
          <a:xfrm>
            <a:off x="4206240" y="5715000"/>
            <a:ext cx="3291840" cy="457200"/>
          </a:xfrm>
          <a:prstGeom prst="rect">
            <a:avLst/>
          </a:prstGeom>
          <a:noFill/>
          <a:ln/>
        </p:spPr>
        <p:txBody>
          <a:bodyPr wrap="square" lIns="0" tIns="0" rIns="0" bIns="0" rtlCol="0" anchor="ctr"/>
          <a:lstStyle/>
          <a:p>
            <a:pPr marL="0" indent="0">
              <a:buNone/>
            </a:pPr>
            <a:r>
              <a:rPr lang="en-US" sz="1300" dirty="0">
                <a:solidFill>
                  <a:srgbClr val="555555"/>
                </a:solidFill>
              </a:rPr>
              <a:t>for the analyzer to quote both clauses</a:t>
            </a:r>
            <a:endParaRPr lang="en-US" sz="1300" dirty="0"/>
          </a:p>
        </p:txBody>
      </p:sp>
      <p:sp>
        <p:nvSpPr>
          <p:cNvPr id="9" name="stat suggested, with the package for counsel assembled"/>
          <p:cNvSpPr txBox="1"/>
          <p:nvPr/>
        </p:nvSpPr>
        <p:spPr>
          <a:xfrm>
            <a:off x="7863840" y="4892040"/>
            <a:ext cx="3657600" cy="822960"/>
          </a:xfrm>
          <a:prstGeom prst="rect">
            <a:avLst/>
          </a:prstGeom>
          <a:noFill/>
          <a:ln/>
        </p:spPr>
        <p:txBody>
          <a:bodyPr wrap="square" lIns="0" tIns="0" rIns="0" bIns="0" rtlCol="0" anchor="ctr"/>
          <a:lstStyle/>
          <a:p>
            <a:pPr marL="0" indent="0">
              <a:buNone/>
            </a:pPr>
            <a:r>
              <a:rPr lang="en-US" sz="4000" b="1" dirty="0">
                <a:solidFill>
                  <a:schemeClr val="accent4"/>
                </a:solidFill>
              </a:rPr>
              <a:t>escalate</a:t>
            </a:r>
            <a:endParaRPr lang="en-US" sz="4000" dirty="0"/>
          </a:p>
        </p:txBody>
      </p:sp>
      <p:sp>
        <p:nvSpPr>
          <p:cNvPr id="10" name="stat label suggested, with the package for counsel assembled"/>
          <p:cNvSpPr txBox="1"/>
          <p:nvPr/>
        </p:nvSpPr>
        <p:spPr>
          <a:xfrm>
            <a:off x="7863840" y="5715000"/>
            <a:ext cx="3657600" cy="457200"/>
          </a:xfrm>
          <a:prstGeom prst="rect">
            <a:avLst/>
          </a:prstGeom>
          <a:noFill/>
          <a:ln/>
        </p:spPr>
        <p:txBody>
          <a:bodyPr wrap="square" lIns="0" tIns="0" rIns="0" bIns="0" rtlCol="0" anchor="ctr"/>
          <a:lstStyle/>
          <a:p>
            <a:pPr marL="0" indent="0">
              <a:buNone/>
            </a:pPr>
            <a:r>
              <a:rPr lang="en-US" sz="1300" dirty="0">
                <a:solidFill>
                  <a:srgbClr val="555555"/>
                </a:solidFill>
              </a:rPr>
              <a:t>suggested, with the package for counsel assembled</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Walkthrough 2: the trap the seller missed, and so did I</a:t>
            </a:r>
            <a:endParaRPr lang="en-US" sz="3000" dirty="0"/>
          </a:p>
        </p:txBody>
      </p:sp>
      <p:pic>
        <p:nvPicPr>
          <p:cNvPr id="4" name="04_blueorchid_conflicts.png" descr="E:\Coding\CB AI PM Cohort\Capstone\Capstone 2 AtliQ Contract Risk Analyzer\Working\screenshots\04_blueorchid_conflicts.png"/>
          <p:cNvPicPr>
            <a:picLocks noChangeAspect="1"/>
          </p:cNvPicPr>
          <p:nvPr/>
        </p:nvPicPr>
        <p:blipFill>
          <a:blip r:embed="rId3"/>
          <a:stretch>
            <a:fillRect/>
          </a:stretch>
        </p:blipFill>
        <p:spPr>
          <a:xfrm>
            <a:off x="548640" y="1188720"/>
            <a:ext cx="11064240" cy="3489491"/>
          </a:xfrm>
          <a:prstGeom prst="rect">
            <a:avLst/>
          </a:prstGeom>
        </p:spPr>
      </p:pic>
      <p:sp>
        <p:nvSpPr>
          <p:cNvPr id="5" name="card The tracker said"/>
          <p:cNvSpPr/>
          <p:nvPr/>
        </p:nvSpPr>
        <p:spPr>
          <a:xfrm>
            <a:off x="548640" y="4846320"/>
            <a:ext cx="5394960" cy="1417320"/>
          </a:xfrm>
          <a:prstGeom prst="roundRect">
            <a:avLst>
              <a:gd name="adj" fmla="val 5161"/>
            </a:avLst>
          </a:prstGeom>
          <a:solidFill>
            <a:srgbClr val="FDF9EC"/>
          </a:solidFill>
          <a:ln w="9525">
            <a:solidFill>
              <a:srgbClr val="D5DCE6"/>
            </a:solidFill>
            <a:prstDash val="solid"/>
          </a:ln>
        </p:spPr>
      </p:sp>
      <p:sp>
        <p:nvSpPr>
          <p:cNvPr id="6" name="card head The tracker said"/>
          <p:cNvSpPr txBox="1"/>
          <p:nvPr/>
        </p:nvSpPr>
        <p:spPr>
          <a:xfrm>
            <a:off x="713232" y="4956048"/>
            <a:ext cx="5065776" cy="365760"/>
          </a:xfrm>
          <a:prstGeom prst="rect">
            <a:avLst/>
          </a:prstGeom>
          <a:noFill/>
          <a:ln/>
        </p:spPr>
        <p:txBody>
          <a:bodyPr wrap="square" lIns="0" tIns="0" rIns="0" bIns="0" rtlCol="0" anchor="ctr"/>
          <a:lstStyle/>
          <a:p>
            <a:pPr marL="0" indent="0">
              <a:buNone/>
            </a:pPr>
            <a:r>
              <a:rPr lang="en-US" sz="1500" b="1" dirty="0">
                <a:solidFill>
                  <a:schemeClr val="tx2"/>
                </a:solidFill>
              </a:rPr>
              <a:t>The tracker said</a:t>
            </a:r>
            <a:endParaRPr lang="en-US" sz="1500" dirty="0"/>
          </a:p>
        </p:txBody>
      </p:sp>
      <p:sp>
        <p:nvSpPr>
          <p:cNvPr id="7" name="card body The tracker said"/>
          <p:cNvSpPr txBox="1"/>
          <p:nvPr/>
        </p:nvSpPr>
        <p:spPr>
          <a:xfrm>
            <a:off x="713232" y="5321808"/>
            <a:ext cx="5065776" cy="850392"/>
          </a:xfrm>
          <a:prstGeom prst="rect">
            <a:avLst/>
          </a:prstGeom>
          <a:noFill/>
          <a:ln/>
        </p:spPr>
        <p:txBody>
          <a:bodyPr wrap="square" lIns="0" tIns="0" rIns="0" bIns="0" rtlCol="0" anchor="t"/>
          <a:lstStyle/>
          <a:p>
            <a:pPr marL="0" indent="0">
              <a:buNone/>
            </a:pPr>
            <a:r>
              <a:rPr lang="en-US" sz="1250" dirty="0">
                <a:solidFill>
                  <a:schemeClr val="tx1"/>
                </a:solidFill>
              </a:rPr>
              <a:t>"by 5 Oct - want to start before Diwali. Jay: 'just India hotels I think'. TechSummit lead"  (contract_tracker.csv, C-027)</a:t>
            </a:r>
            <a:endParaRPr lang="en-US" sz="1250" dirty="0"/>
          </a:p>
        </p:txBody>
      </p:sp>
      <p:sp>
        <p:nvSpPr>
          <p:cNvPr id="8" name="card The contract said"/>
          <p:cNvSpPr/>
          <p:nvPr/>
        </p:nvSpPr>
        <p:spPr>
          <a:xfrm>
            <a:off x="6217920" y="4846320"/>
            <a:ext cx="5394960" cy="1417320"/>
          </a:xfrm>
          <a:prstGeom prst="roundRect">
            <a:avLst>
              <a:gd name="adj" fmla="val 5161"/>
            </a:avLst>
          </a:prstGeom>
          <a:solidFill>
            <a:srgbClr val="EAF6EE"/>
          </a:solidFill>
          <a:ln w="9525">
            <a:solidFill>
              <a:srgbClr val="D5DCE6"/>
            </a:solidFill>
            <a:prstDash val="solid"/>
          </a:ln>
        </p:spPr>
      </p:sp>
      <p:sp>
        <p:nvSpPr>
          <p:cNvPr id="9" name="card head The contract said"/>
          <p:cNvSpPr txBox="1"/>
          <p:nvPr/>
        </p:nvSpPr>
        <p:spPr>
          <a:xfrm>
            <a:off x="6382512" y="4956048"/>
            <a:ext cx="5065776" cy="365760"/>
          </a:xfrm>
          <a:prstGeom prst="rect">
            <a:avLst/>
          </a:prstGeom>
          <a:noFill/>
          <a:ln/>
        </p:spPr>
        <p:txBody>
          <a:bodyPr wrap="square" lIns="0" tIns="0" rIns="0" bIns="0" rtlCol="0" anchor="ctr"/>
          <a:lstStyle/>
          <a:p>
            <a:pPr marL="0" indent="0">
              <a:buNone/>
            </a:pPr>
            <a:r>
              <a:rPr lang="en-US" sz="1500" b="1" dirty="0">
                <a:solidFill>
                  <a:schemeClr val="tx2"/>
                </a:solidFill>
              </a:rPr>
              <a:t>The contract said</a:t>
            </a:r>
            <a:endParaRPr lang="en-US" sz="1500" dirty="0"/>
          </a:p>
        </p:txBody>
      </p:sp>
      <p:sp>
        <p:nvSpPr>
          <p:cNvPr id="10" name="card body The contract said"/>
          <p:cNvSpPr txBox="1"/>
          <p:nvPr/>
        </p:nvSpPr>
        <p:spPr>
          <a:xfrm>
            <a:off x="6382512" y="5321808"/>
            <a:ext cx="5065776" cy="850392"/>
          </a:xfrm>
          <a:prstGeom prst="rect">
            <a:avLst/>
          </a:prstGeom>
          <a:noFill/>
          <a:ln/>
        </p:spPr>
        <p:txBody>
          <a:bodyPr wrap="square" lIns="0" tIns="0" rIns="0" bIns="0" rtlCol="0" anchor="t"/>
          <a:lstStyle/>
          <a:p>
            <a:pPr marL="0" indent="0">
              <a:buNone/>
            </a:pPr>
            <a:r>
              <a:rPr lang="en-US" sz="1250" dirty="0">
                <a:solidFill>
                  <a:schemeClr val="tx1"/>
                </a:solidFill>
              </a:rPr>
              <a:t>Annexure B: BlueOrchid Dubai Business Bay, Orchid Residences Dubai Marina, BlueOrchid Muscat Qurum. Two GCC states. My own test expected "clean"; the model was right.</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Walkthrough 3: rules, not AI, for entity, country and paperwork</a:t>
            </a:r>
            <a:endParaRPr lang="en-US" sz="3000" dirty="0"/>
          </a:p>
        </p:txBody>
      </p:sp>
      <p:pic>
        <p:nvPicPr>
          <p:cNvPr id="4" name="05_travelhub_facts.png" descr="E:\Coding\CB AI PM Cohort\Capstone\Capstone 2 AtliQ Contract Risk Analyzer\Working\screenshots\05_travelhub_facts.png"/>
          <p:cNvPicPr>
            <a:picLocks noChangeAspect="1"/>
          </p:cNvPicPr>
          <p:nvPr/>
        </p:nvPicPr>
        <p:blipFill>
          <a:blip r:embed="rId3"/>
          <a:stretch>
            <a:fillRect/>
          </a:stretch>
        </p:blipFill>
        <p:spPr>
          <a:xfrm>
            <a:off x="548640" y="1188720"/>
            <a:ext cx="5486400" cy="2177679"/>
          </a:xfrm>
          <a:prstGeom prst="rect">
            <a:avLst/>
          </a:prstGeom>
        </p:spPr>
      </p:pic>
      <p:pic>
        <p:nvPicPr>
          <p:cNvPr id="5" name="06_harrington_facts.png" descr="E:\Coding\CB AI PM Cohort\Capstone\Capstone 2 AtliQ Contract Risk Analyzer\Working\screenshots\06_harrington_facts.png"/>
          <p:cNvPicPr>
            <a:picLocks noChangeAspect="1"/>
          </p:cNvPicPr>
          <p:nvPr/>
        </p:nvPicPr>
        <p:blipFill>
          <a:blip r:embed="rId4"/>
          <a:stretch>
            <a:fillRect/>
          </a:stretch>
        </p:blipFill>
        <p:spPr>
          <a:xfrm>
            <a:off x="6172200" y="1188720"/>
            <a:ext cx="5486400" cy="2456219"/>
          </a:xfrm>
          <a:prstGeom prst="rect">
            <a:avLst/>
          </a:prstGeom>
        </p:spPr>
      </p:pic>
      <p:sp>
        <p:nvSpPr>
          <p:cNvPr id="6" name="card TravelHub (Dubai)"/>
          <p:cNvSpPr/>
          <p:nvPr/>
        </p:nvSpPr>
        <p:spPr>
          <a:xfrm>
            <a:off x="548640" y="3931920"/>
            <a:ext cx="5394960" cy="1554480"/>
          </a:xfrm>
          <a:prstGeom prst="roundRect">
            <a:avLst>
              <a:gd name="adj" fmla="val 4706"/>
            </a:avLst>
          </a:prstGeom>
          <a:solidFill>
            <a:srgbClr val="EEF3F8"/>
          </a:solidFill>
          <a:ln w="9525">
            <a:solidFill>
              <a:srgbClr val="D5DCE6"/>
            </a:solidFill>
            <a:prstDash val="solid"/>
          </a:ln>
        </p:spPr>
      </p:sp>
      <p:sp>
        <p:nvSpPr>
          <p:cNvPr id="7" name="card head TravelHub (Dubai)"/>
          <p:cNvSpPr txBox="1"/>
          <p:nvPr/>
        </p:nvSpPr>
        <p:spPr>
          <a:xfrm>
            <a:off x="713232" y="4041648"/>
            <a:ext cx="5065776" cy="365760"/>
          </a:xfrm>
          <a:prstGeom prst="rect">
            <a:avLst/>
          </a:prstGeom>
          <a:noFill/>
          <a:ln/>
        </p:spPr>
        <p:txBody>
          <a:bodyPr wrap="square" lIns="0" tIns="0" rIns="0" bIns="0" rtlCol="0" anchor="ctr"/>
          <a:lstStyle/>
          <a:p>
            <a:pPr marL="0" indent="0">
              <a:buNone/>
            </a:pPr>
            <a:r>
              <a:rPr lang="en-US" sz="1500" b="1" dirty="0">
                <a:solidFill>
                  <a:schemeClr val="tx2"/>
                </a:solidFill>
              </a:rPr>
              <a:t>TravelHub (Dubai)</a:t>
            </a:r>
            <a:endParaRPr lang="en-US" sz="1500" dirty="0"/>
          </a:p>
        </p:txBody>
      </p:sp>
      <p:sp>
        <p:nvSpPr>
          <p:cNvPr id="8" name="card body TravelHub (Dubai)"/>
          <p:cNvSpPr txBox="1"/>
          <p:nvPr/>
        </p:nvSpPr>
        <p:spPr>
          <a:xfrm>
            <a:off x="713232" y="4407408"/>
            <a:ext cx="5065776" cy="987552"/>
          </a:xfrm>
          <a:prstGeom prst="rect">
            <a:avLst/>
          </a:prstGeom>
          <a:noFill/>
          <a:ln/>
        </p:spPr>
        <p:txBody>
          <a:bodyPr wrap="square" lIns="0" tIns="0" rIns="0" bIns="0" rtlCol="0" anchor="t"/>
          <a:lstStyle/>
          <a:p>
            <a:pPr marL="0" indent="0">
              <a:buNone/>
            </a:pPr>
            <a:r>
              <a:rPr lang="en-US" sz="1250" dirty="0">
                <a:solidFill>
                  <a:schemeClr val="tx1"/>
                </a:solidFill>
              </a:rPr>
              <a:t>AtliQ Inc named on a Middle East deal. The rules engine flags the entity conflict and the foreign governing law. The rule is fixed; the facts it reads are extracted by the model and shown for checking.</a:t>
            </a:r>
            <a:endParaRPr lang="en-US" sz="1250" dirty="0"/>
          </a:p>
        </p:txBody>
      </p:sp>
      <p:sp>
        <p:nvSpPr>
          <p:cNvPr id="9" name="card Harrington Health (US, patient data)"/>
          <p:cNvSpPr/>
          <p:nvPr/>
        </p:nvSpPr>
        <p:spPr>
          <a:xfrm>
            <a:off x="6172200" y="3931920"/>
            <a:ext cx="5394960" cy="1554480"/>
          </a:xfrm>
          <a:prstGeom prst="roundRect">
            <a:avLst>
              <a:gd name="adj" fmla="val 4706"/>
            </a:avLst>
          </a:prstGeom>
          <a:solidFill>
            <a:srgbClr val="EEF3F8"/>
          </a:solidFill>
          <a:ln w="9525">
            <a:solidFill>
              <a:srgbClr val="D5DCE6"/>
            </a:solidFill>
            <a:prstDash val="solid"/>
          </a:ln>
        </p:spPr>
      </p:sp>
      <p:sp>
        <p:nvSpPr>
          <p:cNvPr id="10" name="card head Harrington Health (US, patient data)"/>
          <p:cNvSpPr txBox="1"/>
          <p:nvPr/>
        </p:nvSpPr>
        <p:spPr>
          <a:xfrm>
            <a:off x="6336792" y="4041648"/>
            <a:ext cx="5065776" cy="365760"/>
          </a:xfrm>
          <a:prstGeom prst="rect">
            <a:avLst/>
          </a:prstGeom>
          <a:noFill/>
          <a:ln/>
        </p:spPr>
        <p:txBody>
          <a:bodyPr wrap="square" lIns="0" tIns="0" rIns="0" bIns="0" rtlCol="0" anchor="ctr"/>
          <a:lstStyle/>
          <a:p>
            <a:pPr marL="0" indent="0">
              <a:buNone/>
            </a:pPr>
            <a:r>
              <a:rPr lang="en-US" sz="1500" b="1" dirty="0">
                <a:solidFill>
                  <a:schemeClr val="tx2"/>
                </a:solidFill>
              </a:rPr>
              <a:t>Harrington Health (US, patient data)</a:t>
            </a:r>
            <a:endParaRPr lang="en-US" sz="1500" dirty="0"/>
          </a:p>
        </p:txBody>
      </p:sp>
      <p:sp>
        <p:nvSpPr>
          <p:cNvPr id="11" name="card body Harrington Health (US, patient data)"/>
          <p:cNvSpPr txBox="1"/>
          <p:nvPr/>
        </p:nvSpPr>
        <p:spPr>
          <a:xfrm>
            <a:off x="6336792" y="4407408"/>
            <a:ext cx="5065776" cy="987552"/>
          </a:xfrm>
          <a:prstGeom prst="rect">
            <a:avLst/>
          </a:prstGeom>
          <a:noFill/>
          <a:ln/>
        </p:spPr>
        <p:txBody>
          <a:bodyPr wrap="square" lIns="0" tIns="0" rIns="0" bIns="0" rtlCol="0" anchor="t"/>
          <a:lstStyle/>
          <a:p>
            <a:pPr marL="0" indent="0">
              <a:buNone/>
            </a:pPr>
            <a:r>
              <a:rPr lang="en-US" sz="1250" dirty="0">
                <a:solidFill>
                  <a:schemeClr val="tx1"/>
                </a:solidFill>
              </a:rPr>
              <a:t>Documents expected for a US healthcare deal listed and the missing ones named; $5M cyber cover required against $1M held; "confirm with counsel" flag set.</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Walkthrough 4: fairness in both directions</a:t>
            </a:r>
            <a:endParaRPr lang="en-US" sz="3000" dirty="0"/>
          </a:p>
        </p:txBody>
      </p:sp>
      <p:pic>
        <p:nvPicPr>
          <p:cNvPr id="4" name="07_kriti_mutuality.png" descr="E:\Coding\CB AI PM Cohort\Capstone\Capstone 2 AtliQ Contract Risk Analyzer\Working\screenshots\07_kriti_mutuality.png"/>
          <p:cNvPicPr>
            <a:picLocks noChangeAspect="1"/>
          </p:cNvPicPr>
          <p:nvPr/>
        </p:nvPicPr>
        <p:blipFill>
          <a:blip r:embed="rId3"/>
          <a:stretch>
            <a:fillRect/>
          </a:stretch>
        </p:blipFill>
        <p:spPr>
          <a:xfrm>
            <a:off x="548640" y="1188720"/>
            <a:ext cx="5486400" cy="2063730"/>
          </a:xfrm>
          <a:prstGeom prst="rect">
            <a:avLst/>
          </a:prstGeom>
        </p:spPr>
      </p:pic>
      <p:pic>
        <p:nvPicPr>
          <p:cNvPr id="5" name="08_finserve_mutuality.png" descr="E:\Coding\CB AI PM Cohort\Capstone\Capstone 2 AtliQ Contract Risk Analyzer\Working\screenshots\08_finserve_mutuality.png"/>
          <p:cNvPicPr>
            <a:picLocks noChangeAspect="1"/>
          </p:cNvPicPr>
          <p:nvPr/>
        </p:nvPicPr>
        <p:blipFill>
          <a:blip r:embed="rId4"/>
          <a:stretch>
            <a:fillRect/>
          </a:stretch>
        </p:blipFill>
        <p:spPr>
          <a:xfrm>
            <a:off x="6172200" y="1188720"/>
            <a:ext cx="5486400" cy="2148137"/>
          </a:xfrm>
          <a:prstGeom prst="rect">
            <a:avLst/>
          </a:prstGeom>
        </p:spPr>
      </p:pic>
      <p:sp>
        <p:nvSpPr>
          <p:cNvPr id="6" name="card Kriti: AtliQ's own template"/>
          <p:cNvSpPr/>
          <p:nvPr/>
        </p:nvSpPr>
        <p:spPr>
          <a:xfrm>
            <a:off x="548640" y="3931920"/>
            <a:ext cx="5394960" cy="1645920"/>
          </a:xfrm>
          <a:prstGeom prst="roundRect">
            <a:avLst>
              <a:gd name="adj" fmla="val 4444"/>
            </a:avLst>
          </a:prstGeom>
          <a:solidFill>
            <a:srgbClr val="EEF3F8"/>
          </a:solidFill>
          <a:ln w="9525">
            <a:solidFill>
              <a:srgbClr val="D5DCE6"/>
            </a:solidFill>
            <a:prstDash val="solid"/>
          </a:ln>
        </p:spPr>
      </p:sp>
      <p:sp>
        <p:nvSpPr>
          <p:cNvPr id="7" name="card head Kriti: AtliQ&amp;apos;s own template"/>
          <p:cNvSpPr txBox="1"/>
          <p:nvPr/>
        </p:nvSpPr>
        <p:spPr>
          <a:xfrm>
            <a:off x="713232" y="4041648"/>
            <a:ext cx="5065776" cy="365760"/>
          </a:xfrm>
          <a:prstGeom prst="rect">
            <a:avLst/>
          </a:prstGeom>
          <a:noFill/>
          <a:ln/>
        </p:spPr>
        <p:txBody>
          <a:bodyPr wrap="square" lIns="0" tIns="0" rIns="0" bIns="0" rtlCol="0" anchor="ctr"/>
          <a:lstStyle/>
          <a:p>
            <a:pPr marL="0" indent="0">
              <a:buNone/>
            </a:pPr>
            <a:r>
              <a:rPr lang="en-US" sz="1500" b="1" dirty="0">
                <a:solidFill>
                  <a:schemeClr val="tx2"/>
                </a:solidFill>
              </a:rPr>
              <a:t>Kriti: AtliQ's own template</a:t>
            </a:r>
            <a:endParaRPr lang="en-US" sz="1500" dirty="0"/>
          </a:p>
        </p:txBody>
      </p:sp>
      <p:sp>
        <p:nvSpPr>
          <p:cNvPr id="8" name="card body Kriti: AtliQ&amp;apos;s own template"/>
          <p:cNvSpPr txBox="1"/>
          <p:nvPr/>
        </p:nvSpPr>
        <p:spPr>
          <a:xfrm>
            <a:off x="713232" y="4407408"/>
            <a:ext cx="5065776" cy="1078992"/>
          </a:xfrm>
          <a:prstGeom prst="rect">
            <a:avLst/>
          </a:prstGeom>
          <a:noFill/>
          <a:ln/>
        </p:spPr>
        <p:txBody>
          <a:bodyPr wrap="square" lIns="0" tIns="0" rIns="0" bIns="0" rtlCol="0" anchor="t"/>
          <a:lstStyle/>
          <a:p>
            <a:pPr marL="0" indent="0">
              <a:buNone/>
            </a:pPr>
            <a:r>
              <a:rPr lang="en-US" sz="1250" dirty="0">
                <a:solidFill>
                  <a:schemeClr val="tx1"/>
                </a:solidFill>
              </a:rPr>
              <a:t>120-day pay-when-paid and unlimited vendor liability marked one-sided even though they favour AtliQ. Kriti is 12 people. Karandeep, on an earlier vendor: "I don't want our paper to be the thing I hate receiving."</a:t>
            </a:r>
            <a:endParaRPr lang="en-US" sz="1250" dirty="0"/>
          </a:p>
        </p:txBody>
      </p:sp>
      <p:sp>
        <p:nvSpPr>
          <p:cNvPr id="9" name="card FinServe: &quot;our standard mutual NDA&quot;"/>
          <p:cNvSpPr/>
          <p:nvPr/>
        </p:nvSpPr>
        <p:spPr>
          <a:xfrm>
            <a:off x="6172200" y="3931920"/>
            <a:ext cx="5394960" cy="1645920"/>
          </a:xfrm>
          <a:prstGeom prst="roundRect">
            <a:avLst>
              <a:gd name="adj" fmla="val 4444"/>
            </a:avLst>
          </a:prstGeom>
          <a:solidFill>
            <a:srgbClr val="FDF3F2"/>
          </a:solidFill>
          <a:ln w="9525">
            <a:solidFill>
              <a:srgbClr val="D5DCE6"/>
            </a:solidFill>
            <a:prstDash val="solid"/>
          </a:ln>
        </p:spPr>
      </p:sp>
      <p:sp>
        <p:nvSpPr>
          <p:cNvPr id="10" name="card head FinServe: &amp;quot;our standard mutual NDA&amp;quot;"/>
          <p:cNvSpPr txBox="1"/>
          <p:nvPr/>
        </p:nvSpPr>
        <p:spPr>
          <a:xfrm>
            <a:off x="6336792" y="4041648"/>
            <a:ext cx="5065776" cy="365760"/>
          </a:xfrm>
          <a:prstGeom prst="rect">
            <a:avLst/>
          </a:prstGeom>
          <a:noFill/>
          <a:ln/>
        </p:spPr>
        <p:txBody>
          <a:bodyPr wrap="square" lIns="0" tIns="0" rIns="0" bIns="0" rtlCol="0" anchor="ctr"/>
          <a:lstStyle/>
          <a:p>
            <a:pPr marL="0" indent="0">
              <a:buNone/>
            </a:pPr>
            <a:r>
              <a:rPr lang="en-US" sz="1500" b="1" dirty="0">
                <a:solidFill>
                  <a:schemeClr val="tx2"/>
                </a:solidFill>
              </a:rPr>
              <a:t>FinServe: "our standard mutual NDA"</a:t>
            </a:r>
            <a:endParaRPr lang="en-US" sz="1500" dirty="0"/>
          </a:p>
        </p:txBody>
      </p:sp>
      <p:sp>
        <p:nvSpPr>
          <p:cNvPr id="11" name="card body FinServe: &amp;quot;our standard mutual NDA&amp;quot;"/>
          <p:cNvSpPr txBox="1"/>
          <p:nvPr/>
        </p:nvSpPr>
        <p:spPr>
          <a:xfrm>
            <a:off x="6336792" y="4407408"/>
            <a:ext cx="5065776" cy="1078992"/>
          </a:xfrm>
          <a:prstGeom prst="rect">
            <a:avLst/>
          </a:prstGeom>
          <a:noFill/>
          <a:ln/>
        </p:spPr>
        <p:txBody>
          <a:bodyPr wrap="square" lIns="0" tIns="0" rIns="0" bIns="0" rtlCol="0" anchor="t"/>
          <a:lstStyle/>
          <a:p>
            <a:pPr marL="0" indent="0">
              <a:buNone/>
            </a:pPr>
            <a:r>
              <a:rPr lang="en-US" sz="1250" dirty="0">
                <a:solidFill>
                  <a:schemeClr val="tx1"/>
                </a:solidFill>
              </a:rPr>
              <a:t>One-sided clauses listed, and a non-compete inside the NDA that would bar the live Trustline work. Suggested step: negotiate, with that clause to push on.</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North Star: reviewer time, 3 hours to under 30 minutes</a:t>
            </a:r>
            <a:endParaRPr lang="en-US" sz="3000" dirty="0"/>
          </a:p>
        </p:txBody>
      </p:sp>
      <p:sp>
        <p:nvSpPr>
          <p:cNvPr id="4" name="stat reviewer time per contract, brief opened to decision recorded"/>
          <p:cNvSpPr txBox="1"/>
          <p:nvPr/>
        </p:nvSpPr>
        <p:spPr>
          <a:xfrm>
            <a:off x="548640" y="1280160"/>
            <a:ext cx="3840480" cy="822960"/>
          </a:xfrm>
          <a:prstGeom prst="rect">
            <a:avLst/>
          </a:prstGeom>
          <a:noFill/>
          <a:ln/>
        </p:spPr>
        <p:txBody>
          <a:bodyPr wrap="square" lIns="0" tIns="0" rIns="0" bIns="0" rtlCol="0" anchor="ctr"/>
          <a:lstStyle/>
          <a:p>
            <a:pPr marL="0" indent="0">
              <a:buNone/>
            </a:pPr>
            <a:r>
              <a:rPr lang="en-US" sz="4000" b="1" dirty="0">
                <a:solidFill>
                  <a:schemeClr val="tx2"/>
                </a:solidFill>
              </a:rPr>
              <a:t>3 h → &lt;30 min</a:t>
            </a:r>
            <a:endParaRPr lang="en-US" sz="4000" dirty="0"/>
          </a:p>
        </p:txBody>
      </p:sp>
      <p:sp>
        <p:nvSpPr>
          <p:cNvPr id="5" name="stat label reviewer time per contract, brief opened to decision recorded"/>
          <p:cNvSpPr txBox="1"/>
          <p:nvPr/>
        </p:nvSpPr>
        <p:spPr>
          <a:xfrm>
            <a:off x="548640" y="2103120"/>
            <a:ext cx="3840480" cy="457200"/>
          </a:xfrm>
          <a:prstGeom prst="rect">
            <a:avLst/>
          </a:prstGeom>
          <a:noFill/>
          <a:ln/>
        </p:spPr>
        <p:txBody>
          <a:bodyPr wrap="square" lIns="0" tIns="0" rIns="0" bIns="0" rtlCol="0" anchor="ctr"/>
          <a:lstStyle/>
          <a:p>
            <a:pPr marL="0" indent="0">
              <a:buNone/>
            </a:pPr>
            <a:r>
              <a:rPr lang="en-US" sz="1300" dirty="0">
                <a:solidFill>
                  <a:srgbClr val="555555"/>
                </a:solidFill>
              </a:rPr>
              <a:t>reviewer time per contract, brief opened to decision recorded</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1106424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123A5E"/>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8"/>
                    </a:solidFill>
                  </a:tcPr>
                </a:tc>
                <a:tc>
                  <a:txBody>
                    <a:bodyPr/>
                    <a:lstStyle/>
                    <a:p>
                      <a:pPr marL="0" indent="0">
                        <a:buNone/>
                      </a:pPr>
                      <a:r>
                        <a:rPr lang="en-US" sz="1200" b="1" dirty="0">
                          <a:solidFill>
                            <a:srgbClr val="123A5E"/>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8"/>
                    </a:solidFill>
                  </a:tcPr>
                </a:tc>
                <a:tc>
                  <a:txBody>
                    <a:bodyPr/>
                    <a:lstStyle/>
                    <a:p>
                      <a:pPr marL="0" indent="0">
                        <a:buNone/>
                      </a:pPr>
                      <a:r>
                        <a:rPr lang="en-US" sz="1200" b="1" dirty="0">
                          <a:solidFill>
                            <a:srgbClr val="123A5E"/>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8"/>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North Star</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Reviewer time per contract</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About 3 h to under 30 min within 3 months of beta</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Supporting</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Days in queue, upload to decision</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About a week to 1 working day</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Trust signal</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Override rate on the suggested next step</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Under 25%; above 40% triggers a prompt and register review</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Guardrail</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Known conflicts missed; wrong-entity signatures; data incidents</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0, 0, 0; any instance pauses that check or rolls back (PRD 14.1)</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User experience</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Contracts decided before the client's deadline</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90% within 3 months of full release</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Business</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Outside-counsel spend on routine review</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Down 30% in year one; baseline pending</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Evals: 8 of 8 trap contracts pass, quotes verified in code</a:t>
            </a:r>
            <a:endParaRPr lang="en-US" sz="3000" dirty="0"/>
          </a:p>
        </p:txBody>
      </p:sp>
      <p:pic>
        <p:nvPicPr>
          <p:cNvPr id="4" name="10_golden.png" descr="E:\Coding\CB AI PM Cohort\Capstone\Capstone 2 AtliQ Contract Risk Analyzer\Working\screenshots\10_golden.png"/>
          <p:cNvPicPr>
            <a:picLocks noChangeAspect="1"/>
          </p:cNvPicPr>
          <p:nvPr/>
        </p:nvPicPr>
        <p:blipFill>
          <a:blip r:embed="rId3"/>
          <a:stretch>
            <a:fillRect/>
          </a:stretch>
        </p:blipFill>
        <p:spPr>
          <a:xfrm>
            <a:off x="548640" y="1188720"/>
            <a:ext cx="7680960" cy="3657319"/>
          </a:xfrm>
          <a:prstGeom prst="rect">
            <a:avLst/>
          </a:prstGeom>
        </p:spPr>
      </p:pic>
      <p:sp>
        <p:nvSpPr>
          <p:cNvPr id="5" name="stat trap contracts pass on Sonnet 5"/>
          <p:cNvSpPr txBox="1"/>
          <p:nvPr/>
        </p:nvSpPr>
        <p:spPr>
          <a:xfrm>
            <a:off x="8595360" y="1188720"/>
            <a:ext cx="3017520" cy="822960"/>
          </a:xfrm>
          <a:prstGeom prst="rect">
            <a:avLst/>
          </a:prstGeom>
          <a:noFill/>
          <a:ln/>
        </p:spPr>
        <p:txBody>
          <a:bodyPr wrap="square" lIns="0" tIns="0" rIns="0" bIns="0" rtlCol="0" anchor="ctr"/>
          <a:lstStyle/>
          <a:p>
            <a:pPr marL="0" indent="0">
              <a:buNone/>
            </a:pPr>
            <a:r>
              <a:rPr lang="en-US" sz="4000" b="1" dirty="0">
                <a:solidFill>
                  <a:schemeClr val="accent2"/>
                </a:solidFill>
              </a:rPr>
              <a:t>8 / 8</a:t>
            </a:r>
            <a:endParaRPr lang="en-US" sz="4000" dirty="0"/>
          </a:p>
        </p:txBody>
      </p:sp>
      <p:sp>
        <p:nvSpPr>
          <p:cNvPr id="6" name="stat label trap contracts pass on Sonnet 5"/>
          <p:cNvSpPr txBox="1"/>
          <p:nvPr/>
        </p:nvSpPr>
        <p:spPr>
          <a:xfrm>
            <a:off x="8595360" y="2011680"/>
            <a:ext cx="3017520" cy="457200"/>
          </a:xfrm>
          <a:prstGeom prst="rect">
            <a:avLst/>
          </a:prstGeom>
          <a:noFill/>
          <a:ln/>
        </p:spPr>
        <p:txBody>
          <a:bodyPr wrap="square" lIns="0" tIns="0" rIns="0" bIns="0" rtlCol="0" anchor="ctr"/>
          <a:lstStyle/>
          <a:p>
            <a:pPr marL="0" indent="0">
              <a:buNone/>
            </a:pPr>
            <a:r>
              <a:rPr lang="en-US" sz="1300" dirty="0">
                <a:solidFill>
                  <a:srgbClr val="555555"/>
                </a:solidFill>
              </a:rPr>
              <a:t>trap contracts pass on Sonnet 5</a:t>
            </a:r>
            <a:endParaRPr lang="en-US" sz="1300" dirty="0"/>
          </a:p>
        </p:txBody>
      </p:sp>
      <p:sp>
        <p:nvSpPr>
          <p:cNvPr id="7" name="stat quotes matched word for word; 0 forbidden phrases"/>
          <p:cNvSpPr txBox="1"/>
          <p:nvPr/>
        </p:nvSpPr>
        <p:spPr>
          <a:xfrm>
            <a:off x="8595360" y="2651760"/>
            <a:ext cx="3017520" cy="822960"/>
          </a:xfrm>
          <a:prstGeom prst="rect">
            <a:avLst/>
          </a:prstGeom>
          <a:noFill/>
          <a:ln/>
        </p:spPr>
        <p:txBody>
          <a:bodyPr wrap="square" lIns="0" tIns="0" rIns="0" bIns="0" rtlCol="0" anchor="ctr"/>
          <a:lstStyle/>
          <a:p>
            <a:pPr marL="0" indent="0">
              <a:buNone/>
            </a:pPr>
            <a:r>
              <a:rPr lang="en-US" sz="4000" b="1" dirty="0">
                <a:solidFill>
                  <a:schemeClr val="tx2"/>
                </a:solidFill>
              </a:rPr>
              <a:t>203 of 203</a:t>
            </a:r>
            <a:endParaRPr lang="en-US" sz="4000" dirty="0"/>
          </a:p>
        </p:txBody>
      </p:sp>
      <p:sp>
        <p:nvSpPr>
          <p:cNvPr id="8" name="stat label quotes matched word for word; 0 forbidden phrases"/>
          <p:cNvSpPr txBox="1"/>
          <p:nvPr/>
        </p:nvSpPr>
        <p:spPr>
          <a:xfrm>
            <a:off x="8595360" y="3474720"/>
            <a:ext cx="3017520" cy="457200"/>
          </a:xfrm>
          <a:prstGeom prst="rect">
            <a:avLst/>
          </a:prstGeom>
          <a:noFill/>
          <a:ln/>
        </p:spPr>
        <p:txBody>
          <a:bodyPr wrap="square" lIns="0" tIns="0" rIns="0" bIns="0" rtlCol="0" anchor="ctr"/>
          <a:lstStyle/>
          <a:p>
            <a:pPr marL="0" indent="0">
              <a:buNone/>
            </a:pPr>
            <a:r>
              <a:rPr lang="en-US" sz="1300" dirty="0">
                <a:solidFill>
                  <a:srgbClr val="555555"/>
                </a:solidFill>
              </a:rPr>
              <a:t>quotes matched word for word; 0 forbidden phrases</a:t>
            </a:r>
            <a:endParaRPr lang="en-US" sz="1300" dirty="0"/>
          </a:p>
        </p:txBody>
      </p:sp>
      <p:sp>
        <p:nvSpPr>
          <p:cNvPr id="9" name="stat average per review, measured; ceiling $1.00"/>
          <p:cNvSpPr txBox="1"/>
          <p:nvPr/>
        </p:nvSpPr>
        <p:spPr>
          <a:xfrm>
            <a:off x="8595360" y="4114800"/>
            <a:ext cx="3017520" cy="822960"/>
          </a:xfrm>
          <a:prstGeom prst="rect">
            <a:avLst/>
          </a:prstGeom>
          <a:noFill/>
          <a:ln/>
        </p:spPr>
        <p:txBody>
          <a:bodyPr wrap="square" lIns="0" tIns="0" rIns="0" bIns="0" rtlCol="0" anchor="ctr"/>
          <a:lstStyle/>
          <a:p>
            <a:pPr marL="0" indent="0">
              <a:buNone/>
            </a:pPr>
            <a:r>
              <a:rPr lang="en-US" sz="4000" b="1" dirty="0">
                <a:solidFill>
                  <a:schemeClr val="accent4"/>
                </a:solidFill>
              </a:rPr>
              <a:t>$0.16</a:t>
            </a:r>
            <a:endParaRPr lang="en-US" sz="4000" dirty="0"/>
          </a:p>
        </p:txBody>
      </p:sp>
      <p:sp>
        <p:nvSpPr>
          <p:cNvPr id="10" name="stat label average per review, measured; ceiling $1.00"/>
          <p:cNvSpPr txBox="1"/>
          <p:nvPr/>
        </p:nvSpPr>
        <p:spPr>
          <a:xfrm>
            <a:off x="8595360" y="4937760"/>
            <a:ext cx="3017520" cy="457200"/>
          </a:xfrm>
          <a:prstGeom prst="rect">
            <a:avLst/>
          </a:prstGeom>
          <a:noFill/>
          <a:ln/>
        </p:spPr>
        <p:txBody>
          <a:bodyPr wrap="square" lIns="0" tIns="0" rIns="0" bIns="0" rtlCol="0" anchor="ctr"/>
          <a:lstStyle/>
          <a:p>
            <a:pPr marL="0" indent="0">
              <a:buNone/>
            </a:pPr>
            <a:r>
              <a:rPr lang="en-US" sz="1300" dirty="0">
                <a:solidFill>
                  <a:srgbClr val="555555"/>
                </a:solidFill>
              </a:rPr>
              <a:t>average per review, measured; ceiling $1.00</a:t>
            </a:r>
            <a:endParaRPr lang="en-US" sz="1300" dirty="0"/>
          </a:p>
        </p:txBody>
      </p:sp>
      <p:sp>
        <p:nvSpPr>
          <p:cNvPr id="11" name="estimate vs measured"/>
          <p:cNvSpPr txBox="1"/>
          <p:nvPr/>
        </p:nvSpPr>
        <p:spPr>
          <a:xfrm>
            <a:off x="548640" y="4983480"/>
            <a:ext cx="7680960" cy="1188720"/>
          </a:xfrm>
          <a:prstGeom prst="rect">
            <a:avLst/>
          </a:prstGeom>
          <a:noFill/>
          <a:ln/>
        </p:spPr>
        <p:txBody>
          <a:bodyPr wrap="square" lIns="0" tIns="0" rIns="0" bIns="0" rtlCol="0" anchor="ctr"/>
          <a:lstStyle/>
          <a:p>
            <a:pPr marL="0" indent="0">
              <a:buNone/>
            </a:pPr>
            <a:r>
              <a:rPr lang="en-US" sz="1200" dirty="0">
                <a:solidFill>
                  <a:srgbClr val="555555"/>
                </a:solidFill>
              </a:rPr>
              <a:t>Estimated $0.15 per review before the build; measured $0.29 to $0.43 on the most capable model and $0.09 to $0.19 on Sonnet 5. The register and clause tables were bigger than estimated. The cost sheet was corrected from the measurement.</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chemeClr val="tx2"/>
                </a:solidFill>
              </a:rPr>
              <a:t>Guardrails: mechanisms with an owner, not promises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123A5E"/>
                          </a:solidFill>
                          <a:latin typeface="Calibri" pitchFamily="34" charset="0"/>
                          <a:ea typeface="Calibri" pitchFamily="34" charset="-122"/>
                          <a:cs typeface="Calibri" pitchFamily="34" charset="-120"/>
                        </a:rPr>
                        <a:t>Failure the client fears</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8"/>
                    </a:solidFill>
                  </a:tcPr>
                </a:tc>
                <a:tc>
                  <a:txBody>
                    <a:bodyPr/>
                    <a:lstStyle/>
                    <a:p>
                      <a:pPr marL="0" indent="0">
                        <a:buNone/>
                      </a:pPr>
                      <a:r>
                        <a:rPr lang="en-US" sz="1200" b="1" dirty="0">
                          <a:solidFill>
                            <a:srgbClr val="123A5E"/>
                          </a:solidFill>
                          <a:latin typeface="Calibri" pitchFamily="34" charset="0"/>
                          <a:ea typeface="Calibri" pitchFamily="34" charset="-122"/>
                          <a:cs typeface="Calibri" pitchFamily="34" charset="-120"/>
                        </a:rPr>
                        <a:t>Mechanism, and where it lives</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8"/>
                    </a:solidFill>
                  </a:tcPr>
                </a:tc>
                <a:tc>
                  <a:txBody>
                    <a:bodyPr/>
                    <a:lstStyle/>
                    <a:p>
                      <a:pPr marL="0" indent="0">
                        <a:buNone/>
                      </a:pPr>
                      <a:r>
                        <a:rPr lang="en-US" sz="1200" b="1" dirty="0">
                          <a:solidFill>
                            <a:srgbClr val="123A5E"/>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EF3F8"/>
                    </a:solidFill>
                  </a:tcPr>
                </a:tc>
                <a:extLst>
                  <a:ext uri="{0D108BD9-81ED-4DB2-BD59-A6C34878D82A}">
                    <a16:rowId xmlns:a16="http://schemas.microsoft.com/office/drawing/2014/main" val="10000"/>
                  </a:ext>
                </a:extLst>
              </a:tr>
              <a:tr h="658368">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Missed conflict (breach with an existing client)</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Golden set with every known trap, re-run before any prompt or model change; conflict recall 100% is a launch blocker; register entries used only once confirmed</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AI Product Manager</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False alarms (people stop reading)</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Severity labels; "possible conflict" (overlap depends on a fact outside the document) blocks "sign" but does not escalate on its own; false-alarm rate under 20%; low confidence shown as such</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AI Product Manager</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Invented clause, precedent or law</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Every quote matched to the source in code; unmatched quotes flagged and counted; precedent shown with the deal named</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Engineering lead</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Legal advice or a "safe" verdict</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Output filter flags and counts the phrasing, any hit is a kill-switch condition; mandatory label on every brief; next step is a field, never an action</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Engineering lead</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Unauthorised action</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No email, no e-signature, no integration; the app cannot send or sign</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Engineering lead</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Leaked contract</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Masking before model calls on real contracts; provider no-training terms; RBAC, Karandeep super-admin; encryption</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Engg SME</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Precedent treated as policy</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History shown with the deal named; exceptions carried through; no thresholds hard-coded</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marL="0" indent="0">
                        <a:buNone/>
                      </a:pPr>
                      <a:r>
                        <a:rPr lang="en-US" sz="1200" dirty="0">
                          <a:solidFill>
                            <a:srgbClr val="1C1C1C"/>
                          </a:solidFill>
                          <a:latin typeface="Calibri" pitchFamily="34" charset="0"/>
                          <a:ea typeface="Calibri" pitchFamily="34" charset="-122"/>
                          <a:cs typeface="Calibri" pitchFamily="34" charset="-120"/>
                        </a:rPr>
                        <a:t>AI Product Manager</a:t>
                      </a:r>
                      <a:endParaRPr lang="en-US" sz="1200" dirty="0">
                        <a:latin typeface="Calibri" charset="0"/>
                        <a:ea typeface="Calibri" charset="0"/>
                        <a:cs typeface="Calibri" charset="0"/>
                      </a:endParaRPr>
                    </a:p>
                  </a:txBody>
                  <a:tcPr marL="54864" marR="54864" marT="54864" marB="54864">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B8492"/>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640080"/>
            <a:ext cx="10698480" cy="1097280"/>
          </a:xfrm>
          <a:prstGeom prst="rect">
            <a:avLst/>
          </a:prstGeom>
          <a:noFill/>
          <a:ln/>
        </p:spPr>
        <p:txBody>
          <a:bodyPr wrap="square" lIns="0" tIns="0" rIns="0" bIns="0" rtlCol="0" anchor="ctr"/>
          <a:lstStyle/>
          <a:p>
            <a:pPr marL="0" indent="0" algn="l">
              <a:buNone/>
            </a:pPr>
            <a:r>
              <a:rPr lang="en-US" sz="3600" b="1" dirty="0">
                <a:solidFill>
                  <a:schemeClr val="bg1"/>
                </a:solidFill>
              </a:rPr>
              <a:t>The ask: approve a shadow pilot with Karandeep</a:t>
            </a:r>
            <a:endParaRPr lang="en-US" sz="3600" dirty="0"/>
          </a:p>
        </p:txBody>
      </p:sp>
      <p:sp>
        <p:nvSpPr>
          <p:cNvPr id="4" name="Text 0"/>
          <p:cNvSpPr>
            <a:spLocks noGrp="1"/>
          </p:cNvSpPr>
          <p:nvPr>
            <p:ph type="body" idx="101" hasCustomPrompt="1"/>
          </p:nvPr>
        </p:nvSpPr>
        <p:spPr>
          <a:xfrm>
            <a:off x="731520" y="2103120"/>
            <a:ext cx="10698480" cy="3566160"/>
          </a:xfrm>
          <a:prstGeom prst="rect">
            <a:avLst/>
          </a:prstGeom>
          <a:noFill/>
          <a:ln/>
        </p:spPr>
        <p:txBody>
          <a:bodyPr wrap="square" lIns="0" tIns="0" rIns="0" bIns="0" rtlCol="0" anchor="t"/>
          <a:lstStyle/>
          <a:p>
            <a:pPr marL="0" indent="0">
              <a:spcAft>
                <a:spcPts val="1600"/>
              </a:spcAft>
              <a:buNone/>
            </a:pPr>
            <a:r>
              <a:rPr lang="en-US" sz="2000" b="1" dirty="0">
                <a:solidFill>
                  <a:schemeClr val="bg1"/>
                </a:solidFill>
              </a:rPr>
              <a:t>Decisions needed: </a:t>
            </a:r>
            <a:r>
              <a:rPr lang="en-US" sz="2000" dirty="0">
                <a:solidFill>
                  <a:schemeClr val="bg1"/>
                </a:solidFill>
              </a:rPr>
              <a:t>shadow pilot with Karandeep as the only user, with two evals still open (clause-verdict agreement, injection resistance); a register confirmation session; the $100k counsel threshold.</a:t>
            </a:r>
            <a:endParaRPr lang="en-US" sz="2000" dirty="0"/>
          </a:p>
          <a:p>
            <a:pPr marL="0" indent="0">
              <a:spcAft>
                <a:spcPts val="1600"/>
              </a:spcAft>
              <a:buNone/>
            </a:pPr>
            <a:r>
              <a:rPr lang="en-US" sz="2000" b="1" dirty="0">
                <a:solidFill>
                  <a:schemeClr val="bg1"/>
                </a:solidFill>
              </a:rPr>
              <a:t>Business case: </a:t>
            </a:r>
            <a:r>
              <a:rPr lang="en-US" sz="2000" dirty="0">
                <a:solidFill>
                  <a:schemeClr val="bg1"/>
                </a:solidFill>
              </a:rPr>
              <a:t>about 10 reviewer hours a month returned, roughly Rs 50,000 a month against about Rs 500 of running cost, before counting counsel, incidents and lost deals; per review, so it scales with volume.</a:t>
            </a:r>
            <a:endParaRPr lang="en-US" sz="2000" dirty="0"/>
          </a:p>
          <a:p>
            <a:pPr marL="0" indent="0">
              <a:spcAft>
                <a:spcPts val="1600"/>
              </a:spcAft>
              <a:buNone/>
            </a:pPr>
            <a:r>
              <a:rPr lang="en-US" sz="2000" b="1" dirty="0">
                <a:solidFill>
                  <a:schemeClr val="bg1"/>
                </a:solidFill>
              </a:rPr>
              <a:t>Roadmap: </a:t>
            </a:r>
            <a:r>
              <a:rPr lang="en-US" sz="2000" dirty="0">
                <a:solidFill>
                  <a:schemeClr val="bg1"/>
                </a:solidFill>
              </a:rPr>
              <a:t>counter-proposal drafting from precedent, mailbox intake, client legitimacy check, when their triggers are met.</a:t>
            </a:r>
            <a:endParaRPr lang="en-US" sz="2000" dirty="0"/>
          </a:p>
        </p:txBody>
      </p:sp>
      <p:sp>
        <p:nvSpPr>
          <p:cNvPr id="5" name="links"/>
          <p:cNvSpPr txBox="1"/>
          <p:nvPr/>
        </p:nvSpPr>
        <p:spPr>
          <a:xfrm>
            <a:off x="731520" y="5943600"/>
            <a:ext cx="10698480" cy="365760"/>
          </a:xfrm>
          <a:prstGeom prst="rect">
            <a:avLst/>
          </a:prstGeom>
          <a:noFill/>
          <a:ln/>
        </p:spPr>
        <p:txBody>
          <a:bodyPr wrap="square" lIns="0" tIns="0" rIns="0" bIns="0" rtlCol="0" anchor="ctr"/>
          <a:lstStyle/>
          <a:p>
            <a:pPr marL="0" indent="0">
              <a:buNone/>
            </a:pPr>
            <a:r>
              <a:rPr lang="en-US" sz="1300" dirty="0">
                <a:solidFill>
                  <a:srgbClr val="CADCFC"/>
                </a:solidFill>
              </a:rPr>
              <a:t>Live prototype: atliq-contract-risk-analyzer-teal.vercel.app   ·   Code: github.com/myselfr7/atliq-contract-risk-analyzer</a:t>
            </a:r>
            <a:endParaRPr lang="en-US" sz="1300" dirty="0"/>
          </a:p>
        </p:txBody>
      </p:sp>
    </p:spTree>
  </p:cSld>
  <p:clrMapOvr>
    <a:masterClrMapping/>
  </p:clrMapOvr>
</p:sld>
</file>

<file path=ppt/theme/theme1.xml><?xml version="1.0" encoding="utf-8"?>
<a:theme xmlns:a="http://schemas.openxmlformats.org/drawingml/2006/main" name="AtliQ Contract Review">
  <a:themeElements>
    <a:clrScheme name="AtliQ Contract Review">
      <a:dk1>
        <a:srgbClr val="1C1C1C"/>
      </a:dk1>
      <a:lt1>
        <a:srgbClr val="FFFFFF"/>
      </a:lt1>
      <a:dk2>
        <a:srgbClr val="123A5E"/>
      </a:dk2>
      <a:lt2>
        <a:srgbClr val="EEF3F8"/>
      </a:lt2>
      <a:accent1>
        <a:srgbClr val="123A5E"/>
      </a:accent1>
      <a:accent2>
        <a:srgbClr val="2E8B57"/>
      </a:accent2>
      <a:accent3>
        <a:srgbClr val="C0392B"/>
      </a:accent3>
      <a:accent4>
        <a:srgbClr val="B8860B"/>
      </a:accent4>
      <a:accent5>
        <a:srgbClr val="1F618D"/>
      </a:accent5>
      <a:accent6>
        <a:srgbClr val="8EA9C6"/>
      </a:accent6>
      <a:hlink>
        <a:srgbClr val="1F618D"/>
      </a:hlink>
      <a:folHlink>
        <a:srgbClr val="6D2E46"/>
      </a:folHlink>
    </a:clrScheme>
    <a:fontScheme name="AtliQ Contract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3054</Words>
  <Application>Microsoft Office PowerPoint</Application>
  <PresentationFormat>Widescreen</PresentationFormat>
  <Paragraphs>210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AtliQ Contract Review</vt:lpstr>
      <vt:lpstr>AtliQ Contract Risk Analyzer</vt:lpstr>
      <vt:lpstr>Today: one signer, reviewing from memory after BAU work</vt:lpstr>
      <vt:lpstr>What we heard: past behaviour, not opinions</vt:lpstr>
      <vt:lpstr>Five whys: from "review takes too long" to the real problem</vt:lpstr>
      <vt:lpstr>Where AI helps, where rules do, and what waits</vt:lpstr>
      <vt:lpstr>The solution: AI reviews, people approve, negotiate and sign</vt:lpstr>
      <vt:lpstr>Walkthrough 1: the conflict nobody could find</vt:lpstr>
      <vt:lpstr>Walkthrough 2: the trap the seller missed, and so did I</vt:lpstr>
      <vt:lpstr>Walkthrough 3: rules, not AI, for entity, country and paperwork</vt:lpstr>
      <vt:lpstr>Walkthrough 4: fairness in both directions</vt:lpstr>
      <vt:lpstr>North Star: reviewer time, 3 hours to under 30 minutes</vt:lpstr>
      <vt:lpstr>Evals: 8 of 8 trap contracts pass, quotes verified in code</vt:lpstr>
      <vt:lpstr>Guardrails: mechanisms with an owner, not promises</vt:lpstr>
      <vt:lpstr>The ask: approve a shadow pilot with Karandeep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Contract Risk Analyzer</dc:title>
  <dc:subject/>
  <dc:creator>Rahul</dc:creator>
  <cp:lastModifiedBy>admin</cp:lastModifiedBy>
  <cp:revision>2</cp:revision>
  <dcterms:created xsi:type="dcterms:W3CDTF">2026-10-11T19:03:21Z</dcterms:created>
  <dcterms:modified xsi:type="dcterms:W3CDTF">2026-10-11T19:40:33Z</dcterms:modified>
</cp:coreProperties>
</file>